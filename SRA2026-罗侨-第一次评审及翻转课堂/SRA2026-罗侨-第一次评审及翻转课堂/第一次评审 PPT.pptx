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8"/>
  </p:notesMasterIdLst>
  <p:handoutMasterIdLst>
    <p:handoutMasterId r:id="rId20"/>
  </p:handoutMasterIdLst>
  <p:sldIdLst>
    <p:sldId id="481" r:id="rId4"/>
    <p:sldId id="501" r:id="rId5"/>
    <p:sldId id="502" r:id="rId6"/>
    <p:sldId id="503" r:id="rId7"/>
    <p:sldId id="504" r:id="rId9"/>
    <p:sldId id="505" r:id="rId10"/>
    <p:sldId id="507" r:id="rId11"/>
    <p:sldId id="508" r:id="rId12"/>
    <p:sldId id="509" r:id="rId13"/>
    <p:sldId id="510" r:id="rId14"/>
    <p:sldId id="511" r:id="rId15"/>
    <p:sldId id="512" r:id="rId16"/>
    <p:sldId id="513" r:id="rId17"/>
    <p:sldId id="515" r:id="rId18"/>
    <p:sldId id="516" r:id="rId19"/>
  </p:sldIdLst>
  <p:sldSz cx="9144000" cy="5143500" type="screen16x9"/>
  <p:notesSz cx="6858000" cy="91440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578" userDrawn="1">
          <p15:clr>
            <a:srgbClr val="A4A3A4"/>
          </p15:clr>
        </p15:guide>
        <p15:guide id="4" orient="horz" pos="326" userDrawn="1">
          <p15:clr>
            <a:srgbClr val="A4A3A4"/>
          </p15:clr>
        </p15:guide>
        <p15:guide id="5" orient="horz" pos="899" userDrawn="1">
          <p15:clr>
            <a:srgbClr val="A4A3A4"/>
          </p15:clr>
        </p15:guide>
        <p15:guide id="6" orient="horz" pos="2744" userDrawn="1">
          <p15:clr>
            <a:srgbClr val="A4A3A4"/>
          </p15:clr>
        </p15:guide>
        <p15:guide id="7" pos="30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546" autoAdjust="0"/>
  </p:normalViewPr>
  <p:slideViewPr>
    <p:cSldViewPr snapToGrid="0" showGuides="1">
      <p:cViewPr>
        <p:scale>
          <a:sx n="120" d="100"/>
          <a:sy n="120" d="100"/>
        </p:scale>
        <p:origin x="-1380" y="-654"/>
      </p:cViewPr>
      <p:guideLst>
        <p:guide pos="5578"/>
        <p:guide orient="horz" pos="326"/>
        <p:guide orient="horz" pos="899"/>
        <p:guide orient="horz" pos="2744"/>
        <p:guide pos="300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6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4"/>
          <p:cNvSpPr>
            <a:spLocks noGrp="1"/>
          </p:cNvSpPr>
          <p:nvPr>
            <p:ph type="pic" sz="quarter" idx="11"/>
          </p:nvPr>
        </p:nvSpPr>
        <p:spPr>
          <a:xfrm>
            <a:off x="228601" y="1168430"/>
            <a:ext cx="1741601" cy="1615496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3" name="图片占位符 4"/>
          <p:cNvSpPr>
            <a:spLocks noGrp="1"/>
          </p:cNvSpPr>
          <p:nvPr>
            <p:ph type="pic" sz="quarter" idx="12"/>
          </p:nvPr>
        </p:nvSpPr>
        <p:spPr>
          <a:xfrm>
            <a:off x="2076255" y="1168430"/>
            <a:ext cx="1741601" cy="1615496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图片占位符 4"/>
          <p:cNvSpPr>
            <a:spLocks noGrp="1"/>
          </p:cNvSpPr>
          <p:nvPr>
            <p:ph type="pic" sz="quarter" idx="13"/>
          </p:nvPr>
        </p:nvSpPr>
        <p:spPr>
          <a:xfrm>
            <a:off x="3952189" y="1168430"/>
            <a:ext cx="1741601" cy="1615496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5" name="矩形: 圆角 4"/>
          <p:cNvSpPr/>
          <p:nvPr userDrawn="1"/>
        </p:nvSpPr>
        <p:spPr>
          <a:xfrm>
            <a:off x="5825765" y="1167978"/>
            <a:ext cx="3089635" cy="1616400"/>
          </a:xfrm>
          <a:prstGeom prst="roundRect">
            <a:avLst>
              <a:gd name="adj" fmla="val 6753"/>
            </a:avLst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98F44667-F811-4D20-B32B-68DB41B896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9pPr>
          </a:lstStyle>
          <a:p>
            <a:r>
              <a:rPr lang="zh-CN" altLang="en-US" dirty="0">
                <a:ea typeface="时尚中黑简体" panose="01010104010101010101" pitchFamily="2" charset="-122"/>
              </a:rPr>
              <a:t>单击此处编辑母版标题样式</a:t>
            </a:r>
            <a:endParaRPr lang="zh-CN" altLang="en-US" dirty="0">
              <a:ea typeface="时尚中黑简体" panose="01010104010101010101" pitchFamily="2" charset="-122"/>
            </a:endParaRP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2"/>
          <a:stretch>
            <a:fillRect/>
          </a:stretch>
        </p:blipFill>
        <p:spPr>
          <a:xfrm>
            <a:off x="-1" y="0"/>
            <a:ext cx="7764905" cy="5143500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955F040-ED43-464F-96F2-927121FE6FD0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95CE31C-667C-455E-B312-3B73BAEC6163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/>
  <p:hf sldNum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时尚中黑简体" panose="01010104010101010101" pitchFamily="2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ransition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indent="-213995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5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2" Type="http://schemas.openxmlformats.org/officeDocument/2006/relationships/notesSlide" Target="../notesSlides/notesSlide2.xml"/><Relationship Id="rId31" Type="http://schemas.openxmlformats.org/officeDocument/2006/relationships/slideLayout" Target="../slideLayouts/slideLayout2.xml"/><Relationship Id="rId30" Type="http://schemas.openxmlformats.org/officeDocument/2006/relationships/image" Target="../media/image4.png"/><Relationship Id="rId3" Type="http://schemas.openxmlformats.org/officeDocument/2006/relationships/tags" Target="../tags/tag19.xml"/><Relationship Id="rId29" Type="http://schemas.openxmlformats.org/officeDocument/2006/relationships/tags" Target="../tags/tag45.xml"/><Relationship Id="rId28" Type="http://schemas.openxmlformats.org/officeDocument/2006/relationships/tags" Target="../tags/tag44.xml"/><Relationship Id="rId27" Type="http://schemas.openxmlformats.org/officeDocument/2006/relationships/tags" Target="../tags/tag43.xml"/><Relationship Id="rId26" Type="http://schemas.openxmlformats.org/officeDocument/2006/relationships/tags" Target="../tags/tag42.xml"/><Relationship Id="rId25" Type="http://schemas.openxmlformats.org/officeDocument/2006/relationships/tags" Target="../tags/tag41.xml"/><Relationship Id="rId24" Type="http://schemas.openxmlformats.org/officeDocument/2006/relationships/tags" Target="../tags/tag40.xml"/><Relationship Id="rId23" Type="http://schemas.openxmlformats.org/officeDocument/2006/relationships/tags" Target="../tags/tag39.xml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tags" Target="../tags/tag36.xml"/><Relationship Id="rId2" Type="http://schemas.openxmlformats.org/officeDocument/2006/relationships/tags" Target="../tags/tag18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47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6.png"/><Relationship Id="rId17" Type="http://schemas.openxmlformats.org/officeDocument/2006/relationships/image" Target="../media/image5.png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4891929" y="1734597"/>
            <a:ext cx="4023471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zh-CN" altLang="en-US" sz="4400" dirty="0">
                <a:ln w="1905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思源黑体 CN Normal"/>
              </a:rPr>
              <a:t>校务问答机器人系统</a:t>
            </a:r>
            <a:endParaRPr lang="zh-CN" altLang="en-US" sz="4400" dirty="0">
              <a:ln w="1905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思源黑体 CN Norm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923827" y="3152355"/>
            <a:ext cx="367259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</a:pPr>
            <a:r>
              <a:rPr lang="zh-CN" altLang="en-US" sz="1600" dirty="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需求工程项目计划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5045149" y="3801447"/>
            <a:ext cx="273256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 rot="5400000">
            <a:off x="8782172" y="372975"/>
            <a:ext cx="145928" cy="145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 rot="5400000">
            <a:off x="8533535" y="372975"/>
            <a:ext cx="145928" cy="145928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035088" y="3937743"/>
            <a:ext cx="1385377" cy="299382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汇报人：</a:t>
            </a:r>
            <a:r>
              <a:rPr lang="zh-CN" altLang="en-US" sz="1050" dirty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罗侨</a:t>
            </a:r>
            <a:endParaRPr lang="zh-CN" altLang="en-US" sz="105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5810" y="3267075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第一组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45075" y="4373245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成员：张乘源、罗南希、陈纪安、</a:t>
            </a:r>
            <a:r>
              <a:rPr lang="zh-CN" altLang="en-US" sz="1200"/>
              <a:t>聂东阳</a:t>
            </a:r>
            <a:endParaRPr lang="zh-CN" altLang="en-US" sz="12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 rot="5400000">
            <a:off x="8782172" y="372975"/>
            <a:ext cx="145928" cy="145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 rot="5400000">
            <a:off x="8533535" y="372975"/>
            <a:ext cx="145928" cy="145928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142319" y="1053026"/>
            <a:ext cx="213491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项目基础与定位</a:t>
            </a:r>
            <a:endParaRPr lang="zh-CN" altLang="en-US" sz="2000" dirty="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+mn-lt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6142319" y="1976867"/>
            <a:ext cx="213491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团队组织与协作</a:t>
            </a:r>
            <a:endParaRPr lang="zh-CN" altLang="en-US" sz="2000" dirty="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+mn-lt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6142355" y="2900680"/>
            <a:ext cx="224218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项目实施与管控</a:t>
            </a:r>
            <a:endParaRPr lang="zh-CN" altLang="en-US" sz="2000" dirty="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+mn-lt"/>
            </a:endParaRPr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6142319" y="3824548"/>
            <a:ext cx="2853612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项目预算与资源</a:t>
            </a:r>
            <a:endParaRPr lang="zh-CN" altLang="en-US" sz="2000" dirty="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+mn-lt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1575053" y="1940800"/>
            <a:ext cx="208596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400"/>
            <a:r>
              <a:rPr lang="zh-CN" altLang="en-US" sz="6000" dirty="0">
                <a:ln w="1905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思源黑体 CN Normal"/>
              </a:rPr>
              <a:t>目录</a:t>
            </a:r>
            <a:endParaRPr lang="en-US" altLang="zh-CN" sz="6000" dirty="0">
              <a:ln w="1905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思源黑体 CN Normal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698145" y="2952115"/>
            <a:ext cx="183977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gradFill>
                  <a:gsLst>
                    <a:gs pos="19000">
                      <a:srgbClr val="55A9FF"/>
                    </a:gs>
                    <a:gs pos="100000">
                      <a:srgbClr val="1E8EFE"/>
                    </a:gs>
                    <a:gs pos="53000">
                      <a:srgbClr val="168AFF"/>
                    </a:gs>
                  </a:gsLst>
                  <a:lin ang="18900000" scaled="1"/>
                </a:gradFill>
                <a:effectLst/>
                <a:uLnTx/>
                <a:uFillTx/>
                <a:latin typeface="汉仪雅酷黑 65W" panose="020B0604020202020204" charset="-122"/>
                <a:ea typeface="汉仪雅酷黑 65W" panose="020B0604020202020204" charset="-122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dist"/>
            <a:r>
              <a:rPr lang="en-US" altLang="zh-CN" sz="1200" dirty="0">
                <a:ln w="1905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CONTENTS</a:t>
            </a:r>
            <a:endParaRPr lang="en-US" altLang="zh-CN" sz="1200" dirty="0">
              <a:ln w="1905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grpSp>
        <p:nvGrpSpPr>
          <p:cNvPr id="36" name="组合 35"/>
          <p:cNvGrpSpPr/>
          <p:nvPr>
            <p:custDataLst>
              <p:tags r:id="rId5"/>
            </p:custDataLst>
          </p:nvPr>
        </p:nvGrpSpPr>
        <p:grpSpPr>
          <a:xfrm>
            <a:off x="5583276" y="1114273"/>
            <a:ext cx="556445" cy="425669"/>
            <a:chOff x="4523745" y="1139058"/>
            <a:chExt cx="556445" cy="425669"/>
          </a:xfrm>
        </p:grpSpPr>
        <p:sp>
          <p:nvSpPr>
            <p:cNvPr id="35" name="椭圆 34"/>
            <p:cNvSpPr/>
            <p:nvPr>
              <p:custDataLst>
                <p:tags r:id="rId6"/>
              </p:custDataLst>
            </p:nvPr>
          </p:nvSpPr>
          <p:spPr>
            <a:xfrm>
              <a:off x="4589133" y="1139058"/>
              <a:ext cx="425669" cy="425669"/>
            </a:xfrm>
            <a:prstGeom prst="ellipse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7"/>
              </p:custDataLst>
            </p:nvPr>
          </p:nvSpPr>
          <p:spPr>
            <a:xfrm>
              <a:off x="4523745" y="1167226"/>
              <a:ext cx="5564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 spc="-15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sz="1800" spc="0" dirty="0">
                  <a:solidFill>
                    <a:schemeClr val="bg1"/>
                  </a:solidFill>
                  <a:effectLst/>
                  <a:latin typeface="时尚中黑简体" panose="01010104010101010101" pitchFamily="2" charset="-122"/>
                  <a:ea typeface="时尚中黑简体" panose="01010104010101010101" pitchFamily="2" charset="-122"/>
                  <a:sym typeface="思源黑体 CN Normal"/>
                </a:rPr>
                <a:t>01</a:t>
              </a:r>
              <a:endParaRPr lang="en-US" altLang="zh-CN" sz="1800" spc="0" dirty="0">
                <a:solidFill>
                  <a:schemeClr val="bg1"/>
                </a:solidFill>
                <a:effectLst/>
                <a:latin typeface="时尚中黑简体" panose="01010104010101010101" pitchFamily="2" charset="-122"/>
                <a:ea typeface="时尚中黑简体" panose="01010104010101010101" pitchFamily="2" charset="-122"/>
                <a:sym typeface="思源黑体 CN Normal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8"/>
            </p:custDataLst>
          </p:nvPr>
        </p:nvGrpSpPr>
        <p:grpSpPr>
          <a:xfrm>
            <a:off x="5583276" y="2008757"/>
            <a:ext cx="556445" cy="425669"/>
            <a:chOff x="4523745" y="1139058"/>
            <a:chExt cx="556445" cy="425669"/>
          </a:xfrm>
        </p:grpSpPr>
        <p:sp>
          <p:nvSpPr>
            <p:cNvPr id="38" name="椭圆 37"/>
            <p:cNvSpPr/>
            <p:nvPr>
              <p:custDataLst>
                <p:tags r:id="rId9"/>
              </p:custDataLst>
            </p:nvPr>
          </p:nvSpPr>
          <p:spPr>
            <a:xfrm>
              <a:off x="4589133" y="1139058"/>
              <a:ext cx="425669" cy="425669"/>
            </a:xfrm>
            <a:prstGeom prst="ellipse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10"/>
              </p:custDataLst>
            </p:nvPr>
          </p:nvSpPr>
          <p:spPr>
            <a:xfrm>
              <a:off x="4523745" y="1167226"/>
              <a:ext cx="5564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 spc="-15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sz="1800" spc="0" dirty="0">
                  <a:solidFill>
                    <a:schemeClr val="bg1"/>
                  </a:solidFill>
                  <a:effectLst/>
                  <a:latin typeface="时尚中黑简体" panose="01010104010101010101" pitchFamily="2" charset="-122"/>
                  <a:ea typeface="时尚中黑简体" panose="01010104010101010101" pitchFamily="2" charset="-122"/>
                  <a:sym typeface="思源黑体 CN Normal"/>
                </a:rPr>
                <a:t>02</a:t>
              </a:r>
              <a:endParaRPr lang="en-US" altLang="zh-CN" sz="1800" spc="0" dirty="0">
                <a:solidFill>
                  <a:schemeClr val="bg1"/>
                </a:solidFill>
                <a:effectLst/>
                <a:latin typeface="时尚中黑简体" panose="01010104010101010101" pitchFamily="2" charset="-122"/>
                <a:ea typeface="时尚中黑简体" panose="01010104010101010101" pitchFamily="2" charset="-122"/>
                <a:sym typeface="思源黑体 CN Normal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11"/>
            </p:custDataLst>
          </p:nvPr>
        </p:nvGrpSpPr>
        <p:grpSpPr>
          <a:xfrm>
            <a:off x="5583276" y="2903241"/>
            <a:ext cx="556445" cy="425669"/>
            <a:chOff x="4523745" y="1139058"/>
            <a:chExt cx="556445" cy="425669"/>
          </a:xfrm>
        </p:grpSpPr>
        <p:sp>
          <p:nvSpPr>
            <p:cNvPr id="41" name="椭圆 40"/>
            <p:cNvSpPr/>
            <p:nvPr>
              <p:custDataLst>
                <p:tags r:id="rId12"/>
              </p:custDataLst>
            </p:nvPr>
          </p:nvSpPr>
          <p:spPr>
            <a:xfrm>
              <a:off x="4589133" y="1139058"/>
              <a:ext cx="425669" cy="425669"/>
            </a:xfrm>
            <a:prstGeom prst="ellipse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/>
            <p:cNvSpPr txBox="1"/>
            <p:nvPr>
              <p:custDataLst>
                <p:tags r:id="rId13"/>
              </p:custDataLst>
            </p:nvPr>
          </p:nvSpPr>
          <p:spPr>
            <a:xfrm>
              <a:off x="4523745" y="1167226"/>
              <a:ext cx="5564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 spc="-15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sz="1800" spc="0" dirty="0">
                  <a:solidFill>
                    <a:schemeClr val="bg1"/>
                  </a:solidFill>
                  <a:effectLst/>
                  <a:latin typeface="时尚中黑简体" panose="01010104010101010101" pitchFamily="2" charset="-122"/>
                  <a:ea typeface="时尚中黑简体" panose="01010104010101010101" pitchFamily="2" charset="-122"/>
                  <a:sym typeface="思源黑体 CN Normal"/>
                </a:rPr>
                <a:t>03</a:t>
              </a:r>
              <a:endParaRPr lang="en-US" altLang="zh-CN" sz="1800" spc="0" dirty="0">
                <a:solidFill>
                  <a:schemeClr val="bg1"/>
                </a:solidFill>
                <a:effectLst/>
                <a:latin typeface="时尚中黑简体" panose="01010104010101010101" pitchFamily="2" charset="-122"/>
                <a:ea typeface="时尚中黑简体" panose="01010104010101010101" pitchFamily="2" charset="-122"/>
                <a:sym typeface="思源黑体 CN Normal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14"/>
            </p:custDataLst>
          </p:nvPr>
        </p:nvGrpSpPr>
        <p:grpSpPr>
          <a:xfrm>
            <a:off x="5585874" y="3797726"/>
            <a:ext cx="556445" cy="425669"/>
            <a:chOff x="4523745" y="1139058"/>
            <a:chExt cx="556445" cy="425669"/>
          </a:xfrm>
        </p:grpSpPr>
        <p:sp>
          <p:nvSpPr>
            <p:cNvPr id="44" name="椭圆 43"/>
            <p:cNvSpPr/>
            <p:nvPr>
              <p:custDataLst>
                <p:tags r:id="rId15"/>
              </p:custDataLst>
            </p:nvPr>
          </p:nvSpPr>
          <p:spPr>
            <a:xfrm>
              <a:off x="4589133" y="1139058"/>
              <a:ext cx="425669" cy="425669"/>
            </a:xfrm>
            <a:prstGeom prst="ellipse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16"/>
              </p:custDataLst>
            </p:nvPr>
          </p:nvSpPr>
          <p:spPr>
            <a:xfrm>
              <a:off x="4523745" y="1167226"/>
              <a:ext cx="5564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 spc="-15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sz="1800" spc="0" dirty="0">
                  <a:solidFill>
                    <a:schemeClr val="bg1"/>
                  </a:solidFill>
                  <a:effectLst/>
                  <a:latin typeface="时尚中黑简体" panose="01010104010101010101" pitchFamily="2" charset="-122"/>
                  <a:ea typeface="时尚中黑简体" panose="01010104010101010101" pitchFamily="2" charset="-122"/>
                  <a:sym typeface="思源黑体 CN Normal"/>
                </a:rPr>
                <a:t>04</a:t>
              </a:r>
              <a:endParaRPr lang="en-US" altLang="zh-CN" sz="1800" spc="0" dirty="0">
                <a:solidFill>
                  <a:schemeClr val="bg1"/>
                </a:solidFill>
                <a:effectLst/>
                <a:latin typeface="时尚中黑简体" panose="01010104010101010101" pitchFamily="2" charset="-122"/>
                <a:ea typeface="时尚中黑简体" panose="01010104010101010101" pitchFamily="2" charset="-122"/>
                <a:sym typeface="思源黑体 CN Normal"/>
              </a:endParaRP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 rot="5400000">
            <a:off x="8782172" y="372975"/>
            <a:ext cx="145928" cy="145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 rot="5400000">
            <a:off x="8533535" y="372975"/>
            <a:ext cx="145928" cy="145928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728845" y="2117090"/>
            <a:ext cx="4199255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zh-CN" altLang="en-US" sz="4400" dirty="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项目基础与定位</a:t>
            </a:r>
            <a:endParaRPr lang="zh-CN" altLang="en-US" sz="4400" dirty="0">
              <a:ln w="1905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思源黑体 CN Normal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333422" y="3519160"/>
            <a:ext cx="273256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/>
          <p:cNvSpPr/>
          <p:nvPr/>
        </p:nvSpPr>
        <p:spPr>
          <a:xfrm>
            <a:off x="5305676" y="3741799"/>
            <a:ext cx="1282185" cy="299382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第一单元</a:t>
            </a:r>
            <a:endParaRPr lang="zh-CN" altLang="en-US" sz="12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0"/>
            <a:ext cx="7715250" cy="5143500"/>
          </a:xfrm>
          <a:prstGeom prst="rect">
            <a:avLst/>
          </a:prstGeom>
        </p:spPr>
      </p:pic>
      <p:sp>
        <p:nvSpPr>
          <p:cNvPr id="14" name="任意多边形: 形状 13"/>
          <p:cNvSpPr/>
          <p:nvPr/>
        </p:nvSpPr>
        <p:spPr>
          <a:xfrm>
            <a:off x="1" y="0"/>
            <a:ext cx="5141167" cy="5143500"/>
          </a:xfrm>
          <a:custGeom>
            <a:avLst/>
            <a:gdLst>
              <a:gd name="connsiteX0" fmla="*/ 0 w 5141167"/>
              <a:gd name="connsiteY0" fmla="*/ 0 h 5143500"/>
              <a:gd name="connsiteX1" fmla="*/ 4009842 w 5141167"/>
              <a:gd name="connsiteY1" fmla="*/ 0 h 5143500"/>
              <a:gd name="connsiteX2" fmla="*/ 4172364 w 5141167"/>
              <a:gd name="connsiteY2" fmla="*/ 147710 h 5143500"/>
              <a:gd name="connsiteX3" fmla="*/ 5141167 w 5141167"/>
              <a:gd name="connsiteY3" fmla="*/ 2486608 h 5143500"/>
              <a:gd name="connsiteX4" fmla="*/ 3937471 w 5141167"/>
              <a:gd name="connsiteY4" fmla="*/ 5038992 h 5143500"/>
              <a:gd name="connsiteX5" fmla="*/ 3797713 w 5141167"/>
              <a:gd name="connsiteY5" fmla="*/ 5143500 h 5143500"/>
              <a:gd name="connsiteX6" fmla="*/ 0 w 5141167"/>
              <a:gd name="connsiteY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41167" h="5143500">
                <a:moveTo>
                  <a:pt x="0" y="0"/>
                </a:moveTo>
                <a:lnTo>
                  <a:pt x="4009842" y="0"/>
                </a:lnTo>
                <a:lnTo>
                  <a:pt x="4172364" y="147710"/>
                </a:lnTo>
                <a:cubicBezTo>
                  <a:pt x="4770940" y="746286"/>
                  <a:pt x="5141167" y="1573212"/>
                  <a:pt x="5141167" y="2486608"/>
                </a:cubicBezTo>
                <a:cubicBezTo>
                  <a:pt x="5141167" y="3514179"/>
                  <a:pt x="4672598" y="4432311"/>
                  <a:pt x="3937471" y="5038992"/>
                </a:cubicBezTo>
                <a:lnTo>
                  <a:pt x="3797713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57913" y="1470015"/>
            <a:ext cx="2811776" cy="4603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defTabSz="914400">
              <a:defRPr sz="4800">
                <a:ln w="19050">
                  <a:noFill/>
                </a:ln>
                <a:gradFill>
                  <a:gsLst>
                    <a:gs pos="0">
                      <a:srgbClr val="F7E7E1"/>
                    </a:gs>
                    <a:gs pos="72000">
                      <a:srgbClr val="FCC896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zh-CN" altLang="en-US" sz="2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项目背景与痛点</a:t>
            </a:r>
            <a:endParaRPr lang="zh-CN" altLang="en-US" sz="2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5115" y="2410715"/>
            <a:ext cx="4378358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目前学校校务咨询靠人工，存在</a:t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 4 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大问题</a:t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 —— 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高峰压力大、重复咨询多、非工作时间无响应、咨询和办事入口脱节，这是项目开发的核心动因；同时项目有充足的实施条件，有校务公开数据、成熟的开源技术和实验室设备支撑。</a:t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357928" y="3528885"/>
            <a:ext cx="385700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 rot="5400000">
            <a:off x="8782172" y="372975"/>
            <a:ext cx="145928" cy="145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 rot="5400000">
            <a:off x="8533535" y="372975"/>
            <a:ext cx="145928" cy="145928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/>
          <p:cNvSpPr/>
          <p:nvPr>
            <p:custDataLst>
              <p:tags r:id="rId1"/>
            </p:custDataLst>
          </p:nvPr>
        </p:nvSpPr>
        <p:spPr>
          <a:xfrm>
            <a:off x="3446194" y="1468193"/>
            <a:ext cx="2324637" cy="3058732"/>
          </a:xfrm>
          <a:prstGeom prst="roundRect">
            <a:avLst>
              <a:gd name="adj" fmla="val 8357"/>
            </a:avLst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8600" y="372745"/>
            <a:ext cx="351980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核心目标与产品范围</a:t>
            </a:r>
            <a:endParaRPr lang="zh-CN" altLang="en-US" sz="2400" dirty="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 rot="5400000">
            <a:off x="8782172" y="372975"/>
            <a:ext cx="145928" cy="145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 rot="5400000">
            <a:off x="8533535" y="372975"/>
            <a:ext cx="145928" cy="145928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488312" y="3051560"/>
            <a:ext cx="2196932" cy="1787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5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本项目拟开发校务问答机器人系统，围绕校园高频校务咨询与事项引导需求，打造集文本问答、知识库维护、办事入口跳转、聊天记录管理、互动反馈于一体的软件平台，为师生提供统一、便捷、规范的校务服务。</a:t>
            </a:r>
            <a:endParaRPr lang="zh-CN" altLang="en-US" sz="105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CN Normal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600352" y="2710425"/>
            <a:ext cx="1972852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1600" dirty="0">
                <a:ln w="1905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项目目标</a:t>
            </a:r>
            <a:endParaRPr lang="zh-CN" altLang="en-US" sz="1600" dirty="0">
              <a:ln w="1905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+mn-lt"/>
            </a:endParaRPr>
          </a:p>
        </p:txBody>
      </p:sp>
      <p:sp>
        <p:nvSpPr>
          <p:cNvPr id="7" name="椭圆 6"/>
          <p:cNvSpPr/>
          <p:nvPr>
            <p:custDataLst>
              <p:tags r:id="rId4"/>
            </p:custDataLst>
          </p:nvPr>
        </p:nvSpPr>
        <p:spPr>
          <a:xfrm>
            <a:off x="1214534" y="1752355"/>
            <a:ext cx="744489" cy="744489"/>
          </a:xfrm>
          <a:prstGeom prst="ellipse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3510046" y="3051560"/>
            <a:ext cx="2196932" cy="1060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学校师生，重点面向本科生日常高频校务咨询需求；</a:t>
            </a:r>
            <a:endParaRPr lang="zh-CN" altLang="en-US" sz="105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CN Normal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系统维护人员或项目组管理端使用人员。</a:t>
            </a:r>
            <a:endParaRPr lang="zh-CN" altLang="en-US" sz="105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CN Normal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3622040" y="2710180"/>
            <a:ext cx="207200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1600" dirty="0">
                <a:ln w="19050">
                  <a:noFill/>
                </a:ln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纳入范围的用户对象</a:t>
            </a:r>
            <a:endParaRPr lang="zh-CN" altLang="en-US" sz="1600" dirty="0">
              <a:ln w="19050">
                <a:noFill/>
              </a:ln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+mn-lt"/>
            </a:endParaRPr>
          </a:p>
        </p:txBody>
      </p:sp>
      <p:sp>
        <p:nvSpPr>
          <p:cNvPr id="14" name="椭圆 13"/>
          <p:cNvSpPr/>
          <p:nvPr>
            <p:custDataLst>
              <p:tags r:id="rId7"/>
            </p:custDataLst>
          </p:nvPr>
        </p:nvSpPr>
        <p:spPr>
          <a:xfrm>
            <a:off x="4236268" y="1752355"/>
            <a:ext cx="744489" cy="7444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6635878" y="2729475"/>
            <a:ext cx="1972852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1600" dirty="0">
                <a:ln w="1905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纳入范围的功能</a:t>
            </a:r>
            <a:endParaRPr lang="zh-CN" altLang="en-US" sz="1600" dirty="0">
              <a:ln w="1905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+mn-lt"/>
            </a:endParaRPr>
          </a:p>
        </p:txBody>
      </p:sp>
      <p:sp>
        <p:nvSpPr>
          <p:cNvPr id="19" name="椭圆 18"/>
          <p:cNvSpPr/>
          <p:nvPr>
            <p:custDataLst>
              <p:tags r:id="rId9"/>
            </p:custDataLst>
          </p:nvPr>
        </p:nvSpPr>
        <p:spPr>
          <a:xfrm>
            <a:off x="7250060" y="1771405"/>
            <a:ext cx="744489" cy="744489"/>
          </a:xfrm>
          <a:prstGeom prst="ellipse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Group 59" descr="e7d195523061f1c09e9d68d7cf438b91ef959ecb14fc25d26BBA7F7DBC18E55DFF4014AF651F0BF2569D4B6C1DA7F1A4683A481403BD872FC687266AD13265C1DE7C373772FD8728ABDD69ADD03BFF5BE2862BC891DBB79E58D088E34357A3F345A9534864FDC11340AE3B71A34A7A1F7BD2127AAE3642502E0D4AD8564642CBC6FC46C984D10741322C9CACD20D41DC"/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1391391" y="1930141"/>
            <a:ext cx="390774" cy="388916"/>
            <a:chOff x="2039" y="775"/>
            <a:chExt cx="1683" cy="1675"/>
          </a:xfrm>
          <a:solidFill>
            <a:schemeClr val="bg1"/>
          </a:solidFill>
        </p:grpSpPr>
        <p:sp>
          <p:nvSpPr>
            <p:cNvPr id="21" name="Freeform 60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2039" y="775"/>
              <a:ext cx="1683" cy="1675"/>
            </a:xfrm>
            <a:custGeom>
              <a:avLst/>
              <a:gdLst>
                <a:gd name="T0" fmla="*/ 485 w 707"/>
                <a:gd name="T1" fmla="*/ 704 h 704"/>
                <a:gd name="T2" fmla="*/ 419 w 707"/>
                <a:gd name="T3" fmla="*/ 672 h 704"/>
                <a:gd name="T4" fmla="*/ 37 w 707"/>
                <a:gd name="T5" fmla="*/ 290 h 704"/>
                <a:gd name="T6" fmla="*/ 7 w 707"/>
                <a:gd name="T7" fmla="*/ 206 h 704"/>
                <a:gd name="T8" fmla="*/ 74 w 707"/>
                <a:gd name="T9" fmla="*/ 149 h 704"/>
                <a:gd name="T10" fmla="*/ 595 w 707"/>
                <a:gd name="T11" fmla="*/ 10 h 704"/>
                <a:gd name="T12" fmla="*/ 688 w 707"/>
                <a:gd name="T13" fmla="*/ 33 h 704"/>
                <a:gd name="T14" fmla="*/ 699 w 707"/>
                <a:gd name="T15" fmla="*/ 114 h 704"/>
                <a:gd name="T16" fmla="*/ 560 w 707"/>
                <a:gd name="T17" fmla="*/ 635 h 704"/>
                <a:gd name="T18" fmla="*/ 485 w 707"/>
                <a:gd name="T19" fmla="*/ 704 h 704"/>
                <a:gd name="T20" fmla="*/ 627 w 707"/>
                <a:gd name="T21" fmla="*/ 49 h 704"/>
                <a:gd name="T22" fmla="*/ 606 w 707"/>
                <a:gd name="T23" fmla="*/ 52 h 704"/>
                <a:gd name="T24" fmla="*/ 85 w 707"/>
                <a:gd name="T25" fmla="*/ 191 h 704"/>
                <a:gd name="T26" fmla="*/ 49 w 707"/>
                <a:gd name="T27" fmla="*/ 218 h 704"/>
                <a:gd name="T28" fmla="*/ 68 w 707"/>
                <a:gd name="T29" fmla="*/ 259 h 704"/>
                <a:gd name="T30" fmla="*/ 449 w 707"/>
                <a:gd name="T31" fmla="*/ 641 h 704"/>
                <a:gd name="T32" fmla="*/ 485 w 707"/>
                <a:gd name="T33" fmla="*/ 660 h 704"/>
                <a:gd name="T34" fmla="*/ 517 w 707"/>
                <a:gd name="T35" fmla="*/ 623 h 704"/>
                <a:gd name="T36" fmla="*/ 656 w 707"/>
                <a:gd name="T37" fmla="*/ 103 h 704"/>
                <a:gd name="T38" fmla="*/ 653 w 707"/>
                <a:gd name="T39" fmla="*/ 60 h 704"/>
                <a:gd name="T40" fmla="*/ 627 w 707"/>
                <a:gd name="T41" fmla="*/ 49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07" h="704">
                  <a:moveTo>
                    <a:pt x="485" y="704"/>
                  </a:moveTo>
                  <a:cubicBezTo>
                    <a:pt x="462" y="704"/>
                    <a:pt x="439" y="693"/>
                    <a:pt x="419" y="672"/>
                  </a:cubicBezTo>
                  <a:cubicBezTo>
                    <a:pt x="37" y="290"/>
                    <a:pt x="37" y="290"/>
                    <a:pt x="37" y="290"/>
                  </a:cubicBezTo>
                  <a:cubicBezTo>
                    <a:pt x="10" y="264"/>
                    <a:pt x="0" y="234"/>
                    <a:pt x="7" y="206"/>
                  </a:cubicBezTo>
                  <a:cubicBezTo>
                    <a:pt x="15" y="179"/>
                    <a:pt x="38" y="159"/>
                    <a:pt x="74" y="149"/>
                  </a:cubicBezTo>
                  <a:cubicBezTo>
                    <a:pt x="595" y="10"/>
                    <a:pt x="595" y="10"/>
                    <a:pt x="595" y="10"/>
                  </a:cubicBezTo>
                  <a:cubicBezTo>
                    <a:pt x="634" y="0"/>
                    <a:pt x="669" y="8"/>
                    <a:pt x="688" y="33"/>
                  </a:cubicBezTo>
                  <a:cubicBezTo>
                    <a:pt x="703" y="54"/>
                    <a:pt x="707" y="82"/>
                    <a:pt x="699" y="114"/>
                  </a:cubicBezTo>
                  <a:cubicBezTo>
                    <a:pt x="560" y="635"/>
                    <a:pt x="560" y="635"/>
                    <a:pt x="560" y="635"/>
                  </a:cubicBezTo>
                  <a:cubicBezTo>
                    <a:pt x="548" y="678"/>
                    <a:pt x="520" y="704"/>
                    <a:pt x="485" y="704"/>
                  </a:cubicBezTo>
                  <a:close/>
                  <a:moveTo>
                    <a:pt x="627" y="49"/>
                  </a:moveTo>
                  <a:cubicBezTo>
                    <a:pt x="620" y="49"/>
                    <a:pt x="613" y="50"/>
                    <a:pt x="606" y="52"/>
                  </a:cubicBezTo>
                  <a:cubicBezTo>
                    <a:pt x="85" y="191"/>
                    <a:pt x="85" y="191"/>
                    <a:pt x="85" y="191"/>
                  </a:cubicBezTo>
                  <a:cubicBezTo>
                    <a:pt x="66" y="197"/>
                    <a:pt x="53" y="206"/>
                    <a:pt x="49" y="218"/>
                  </a:cubicBezTo>
                  <a:cubicBezTo>
                    <a:pt x="46" y="229"/>
                    <a:pt x="53" y="245"/>
                    <a:pt x="68" y="259"/>
                  </a:cubicBezTo>
                  <a:cubicBezTo>
                    <a:pt x="449" y="641"/>
                    <a:pt x="449" y="641"/>
                    <a:pt x="449" y="641"/>
                  </a:cubicBezTo>
                  <a:cubicBezTo>
                    <a:pt x="462" y="653"/>
                    <a:pt x="474" y="660"/>
                    <a:pt x="485" y="660"/>
                  </a:cubicBezTo>
                  <a:cubicBezTo>
                    <a:pt x="505" y="660"/>
                    <a:pt x="515" y="634"/>
                    <a:pt x="517" y="623"/>
                  </a:cubicBezTo>
                  <a:cubicBezTo>
                    <a:pt x="656" y="103"/>
                    <a:pt x="656" y="103"/>
                    <a:pt x="656" y="103"/>
                  </a:cubicBezTo>
                  <a:cubicBezTo>
                    <a:pt x="661" y="84"/>
                    <a:pt x="660" y="69"/>
                    <a:pt x="653" y="60"/>
                  </a:cubicBezTo>
                  <a:cubicBezTo>
                    <a:pt x="646" y="51"/>
                    <a:pt x="635" y="49"/>
                    <a:pt x="627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61"/>
            <p:cNvSpPr/>
            <p:nvPr>
              <p:custDataLst>
                <p:tags r:id="rId12"/>
              </p:custDataLst>
            </p:nvPr>
          </p:nvSpPr>
          <p:spPr bwMode="auto">
            <a:xfrm>
              <a:off x="3265" y="1815"/>
              <a:ext cx="59" cy="64"/>
            </a:xfrm>
            <a:custGeom>
              <a:avLst/>
              <a:gdLst>
                <a:gd name="T0" fmla="*/ 12 w 25"/>
                <a:gd name="T1" fmla="*/ 27 h 27"/>
                <a:gd name="T2" fmla="*/ 10 w 25"/>
                <a:gd name="T3" fmla="*/ 27 h 27"/>
                <a:gd name="T4" fmla="*/ 2 w 25"/>
                <a:gd name="T5" fmla="*/ 14 h 27"/>
                <a:gd name="T6" fmla="*/ 3 w 25"/>
                <a:gd name="T7" fmla="*/ 9 h 27"/>
                <a:gd name="T8" fmla="*/ 16 w 25"/>
                <a:gd name="T9" fmla="*/ 1 h 27"/>
                <a:gd name="T10" fmla="*/ 24 w 25"/>
                <a:gd name="T11" fmla="*/ 15 h 27"/>
                <a:gd name="T12" fmla="*/ 23 w 25"/>
                <a:gd name="T13" fmla="*/ 19 h 27"/>
                <a:gd name="T14" fmla="*/ 12 w 25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7">
                  <a:moveTo>
                    <a:pt x="12" y="27"/>
                  </a:moveTo>
                  <a:cubicBezTo>
                    <a:pt x="11" y="27"/>
                    <a:pt x="10" y="27"/>
                    <a:pt x="10" y="27"/>
                  </a:cubicBezTo>
                  <a:cubicBezTo>
                    <a:pt x="4" y="25"/>
                    <a:pt x="0" y="19"/>
                    <a:pt x="2" y="14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3"/>
                    <a:pt x="10" y="0"/>
                    <a:pt x="16" y="1"/>
                  </a:cubicBezTo>
                  <a:cubicBezTo>
                    <a:pt x="22" y="3"/>
                    <a:pt x="25" y="9"/>
                    <a:pt x="24" y="15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24"/>
                    <a:pt x="17" y="27"/>
                    <a:pt x="1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62"/>
            <p:cNvSpPr/>
            <p:nvPr>
              <p:custDataLst>
                <p:tags r:id="rId13"/>
              </p:custDataLst>
            </p:nvPr>
          </p:nvSpPr>
          <p:spPr bwMode="auto">
            <a:xfrm>
              <a:off x="3193" y="1891"/>
              <a:ext cx="112" cy="267"/>
            </a:xfrm>
            <a:custGeom>
              <a:avLst/>
              <a:gdLst>
                <a:gd name="T0" fmla="*/ 12 w 47"/>
                <a:gd name="T1" fmla="*/ 112 h 112"/>
                <a:gd name="T2" fmla="*/ 9 w 47"/>
                <a:gd name="T3" fmla="*/ 112 h 112"/>
                <a:gd name="T4" fmla="*/ 1 w 47"/>
                <a:gd name="T5" fmla="*/ 99 h 112"/>
                <a:gd name="T6" fmla="*/ 25 w 47"/>
                <a:gd name="T7" fmla="*/ 9 h 112"/>
                <a:gd name="T8" fmla="*/ 38 w 47"/>
                <a:gd name="T9" fmla="*/ 1 h 112"/>
                <a:gd name="T10" fmla="*/ 46 w 47"/>
                <a:gd name="T11" fmla="*/ 14 h 112"/>
                <a:gd name="T12" fmla="*/ 22 w 47"/>
                <a:gd name="T13" fmla="*/ 104 h 112"/>
                <a:gd name="T14" fmla="*/ 12 w 47"/>
                <a:gd name="T15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112">
                  <a:moveTo>
                    <a:pt x="12" y="112"/>
                  </a:moveTo>
                  <a:cubicBezTo>
                    <a:pt x="11" y="112"/>
                    <a:pt x="10" y="112"/>
                    <a:pt x="9" y="112"/>
                  </a:cubicBezTo>
                  <a:cubicBezTo>
                    <a:pt x="3" y="110"/>
                    <a:pt x="0" y="104"/>
                    <a:pt x="1" y="9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6" y="3"/>
                    <a:pt x="32" y="0"/>
                    <a:pt x="38" y="1"/>
                  </a:cubicBezTo>
                  <a:cubicBezTo>
                    <a:pt x="44" y="3"/>
                    <a:pt x="47" y="9"/>
                    <a:pt x="46" y="1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1" y="109"/>
                    <a:pt x="17" y="112"/>
                    <a:pt x="12" y="1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63"/>
            <p:cNvSpPr/>
            <p:nvPr>
              <p:custDataLst>
                <p:tags r:id="rId14"/>
              </p:custDataLst>
            </p:nvPr>
          </p:nvSpPr>
          <p:spPr bwMode="auto">
            <a:xfrm>
              <a:off x="2569" y="1487"/>
              <a:ext cx="462" cy="457"/>
            </a:xfrm>
            <a:custGeom>
              <a:avLst/>
              <a:gdLst>
                <a:gd name="T0" fmla="*/ 24 w 194"/>
                <a:gd name="T1" fmla="*/ 192 h 192"/>
                <a:gd name="T2" fmla="*/ 8 w 194"/>
                <a:gd name="T3" fmla="*/ 186 h 192"/>
                <a:gd name="T4" fmla="*/ 8 w 194"/>
                <a:gd name="T5" fmla="*/ 155 h 192"/>
                <a:gd name="T6" fmla="*/ 155 w 194"/>
                <a:gd name="T7" fmla="*/ 8 h 192"/>
                <a:gd name="T8" fmla="*/ 186 w 194"/>
                <a:gd name="T9" fmla="*/ 8 h 192"/>
                <a:gd name="T10" fmla="*/ 186 w 194"/>
                <a:gd name="T11" fmla="*/ 39 h 192"/>
                <a:gd name="T12" fmla="*/ 39 w 194"/>
                <a:gd name="T13" fmla="*/ 186 h 192"/>
                <a:gd name="T14" fmla="*/ 24 w 194"/>
                <a:gd name="T1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92">
                  <a:moveTo>
                    <a:pt x="24" y="192"/>
                  </a:moveTo>
                  <a:cubicBezTo>
                    <a:pt x="18" y="192"/>
                    <a:pt x="13" y="190"/>
                    <a:pt x="8" y="186"/>
                  </a:cubicBezTo>
                  <a:cubicBezTo>
                    <a:pt x="0" y="177"/>
                    <a:pt x="0" y="163"/>
                    <a:pt x="8" y="155"/>
                  </a:cubicBezTo>
                  <a:cubicBezTo>
                    <a:pt x="155" y="8"/>
                    <a:pt x="155" y="8"/>
                    <a:pt x="155" y="8"/>
                  </a:cubicBezTo>
                  <a:cubicBezTo>
                    <a:pt x="164" y="0"/>
                    <a:pt x="177" y="0"/>
                    <a:pt x="186" y="8"/>
                  </a:cubicBezTo>
                  <a:cubicBezTo>
                    <a:pt x="194" y="17"/>
                    <a:pt x="194" y="31"/>
                    <a:pt x="186" y="39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5" y="190"/>
                    <a:pt x="29" y="192"/>
                    <a:pt x="24" y="1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Group 66" descr="e7d195523061f1c09e9d68d7cf438b91ef959ecb14fc25d26BBA7F7DBC18E55DFF4014AF651F0BF2569D4B6C1DA7F1A4683A481403BD872FC687266AD13265C1DE7C373772FD8728ABDD69ADD03BFF5BE2862BC891DBB79E58D088E34357A3F345A9534864FDC11340AE3B71A34A7A1F7BD2127AAE3642502E0D4AD8564642CBC6FC46C984D10741322C9CACD20D41DC"/>
          <p:cNvGrpSpPr>
            <a:grpSpLocks noChangeAspect="1"/>
          </p:cNvGrpSpPr>
          <p:nvPr>
            <p:custDataLst>
              <p:tags r:id="rId15"/>
            </p:custDataLst>
          </p:nvPr>
        </p:nvGrpSpPr>
        <p:grpSpPr>
          <a:xfrm>
            <a:off x="4404427" y="1921126"/>
            <a:ext cx="408171" cy="406947"/>
            <a:chOff x="2043" y="790"/>
            <a:chExt cx="1667" cy="1662"/>
          </a:xfrm>
          <a:solidFill>
            <a:schemeClr val="accent1">
              <a:lumMod val="75000"/>
              <a:lumOff val="25000"/>
            </a:schemeClr>
          </a:solidFill>
        </p:grpSpPr>
        <p:sp>
          <p:nvSpPr>
            <p:cNvPr id="26" name="Freeform 67"/>
            <p:cNvSpPr/>
            <p:nvPr>
              <p:custDataLst>
                <p:tags r:id="rId16"/>
              </p:custDataLst>
            </p:nvPr>
          </p:nvSpPr>
          <p:spPr bwMode="auto">
            <a:xfrm>
              <a:off x="2043" y="790"/>
              <a:ext cx="1667" cy="1662"/>
            </a:xfrm>
            <a:custGeom>
              <a:avLst/>
              <a:gdLst>
                <a:gd name="T0" fmla="*/ 199 w 701"/>
                <a:gd name="T1" fmla="*/ 698 h 698"/>
                <a:gd name="T2" fmla="*/ 185 w 701"/>
                <a:gd name="T3" fmla="*/ 693 h 698"/>
                <a:gd name="T4" fmla="*/ 179 w 701"/>
                <a:gd name="T5" fmla="*/ 668 h 698"/>
                <a:gd name="T6" fmla="*/ 204 w 701"/>
                <a:gd name="T7" fmla="*/ 609 h 698"/>
                <a:gd name="T8" fmla="*/ 212 w 701"/>
                <a:gd name="T9" fmla="*/ 585 h 698"/>
                <a:gd name="T10" fmla="*/ 215 w 701"/>
                <a:gd name="T11" fmla="*/ 558 h 698"/>
                <a:gd name="T12" fmla="*/ 245 w 701"/>
                <a:gd name="T13" fmla="*/ 558 h 698"/>
                <a:gd name="T14" fmla="*/ 244 w 701"/>
                <a:gd name="T15" fmla="*/ 627 h 698"/>
                <a:gd name="T16" fmla="*/ 243 w 701"/>
                <a:gd name="T17" fmla="*/ 628 h 698"/>
                <a:gd name="T18" fmla="*/ 341 w 701"/>
                <a:gd name="T19" fmla="*/ 574 h 698"/>
                <a:gd name="T20" fmla="*/ 352 w 701"/>
                <a:gd name="T21" fmla="*/ 571 h 698"/>
                <a:gd name="T22" fmla="*/ 657 w 701"/>
                <a:gd name="T23" fmla="*/ 302 h 698"/>
                <a:gd name="T24" fmla="*/ 352 w 701"/>
                <a:gd name="T25" fmla="*/ 44 h 698"/>
                <a:gd name="T26" fmla="*/ 46 w 701"/>
                <a:gd name="T27" fmla="*/ 303 h 698"/>
                <a:gd name="T28" fmla="*/ 160 w 701"/>
                <a:gd name="T29" fmla="*/ 512 h 698"/>
                <a:gd name="T30" fmla="*/ 166 w 701"/>
                <a:gd name="T31" fmla="*/ 542 h 698"/>
                <a:gd name="T32" fmla="*/ 135 w 701"/>
                <a:gd name="T33" fmla="*/ 547 h 698"/>
                <a:gd name="T34" fmla="*/ 3 w 701"/>
                <a:gd name="T35" fmla="*/ 301 h 698"/>
                <a:gd name="T36" fmla="*/ 352 w 701"/>
                <a:gd name="T37" fmla="*/ 0 h 698"/>
                <a:gd name="T38" fmla="*/ 701 w 701"/>
                <a:gd name="T39" fmla="*/ 302 h 698"/>
                <a:gd name="T40" fmla="*/ 358 w 701"/>
                <a:gd name="T41" fmla="*/ 615 h 698"/>
                <a:gd name="T42" fmla="*/ 210 w 701"/>
                <a:gd name="T43" fmla="*/ 696 h 698"/>
                <a:gd name="T44" fmla="*/ 199 w 701"/>
                <a:gd name="T45" fmla="*/ 698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01" h="698">
                  <a:moveTo>
                    <a:pt x="199" y="698"/>
                  </a:moveTo>
                  <a:cubicBezTo>
                    <a:pt x="194" y="698"/>
                    <a:pt x="189" y="696"/>
                    <a:pt x="185" y="693"/>
                  </a:cubicBezTo>
                  <a:cubicBezTo>
                    <a:pt x="178" y="687"/>
                    <a:pt x="176" y="677"/>
                    <a:pt x="179" y="668"/>
                  </a:cubicBezTo>
                  <a:cubicBezTo>
                    <a:pt x="204" y="609"/>
                    <a:pt x="204" y="609"/>
                    <a:pt x="204" y="609"/>
                  </a:cubicBezTo>
                  <a:cubicBezTo>
                    <a:pt x="208" y="600"/>
                    <a:pt x="211" y="589"/>
                    <a:pt x="212" y="585"/>
                  </a:cubicBezTo>
                  <a:cubicBezTo>
                    <a:pt x="206" y="576"/>
                    <a:pt x="207" y="565"/>
                    <a:pt x="215" y="558"/>
                  </a:cubicBezTo>
                  <a:cubicBezTo>
                    <a:pt x="223" y="549"/>
                    <a:pt x="237" y="549"/>
                    <a:pt x="245" y="558"/>
                  </a:cubicBezTo>
                  <a:cubicBezTo>
                    <a:pt x="264" y="576"/>
                    <a:pt x="252" y="609"/>
                    <a:pt x="244" y="627"/>
                  </a:cubicBezTo>
                  <a:cubicBezTo>
                    <a:pt x="243" y="628"/>
                    <a:pt x="243" y="628"/>
                    <a:pt x="243" y="628"/>
                  </a:cubicBezTo>
                  <a:cubicBezTo>
                    <a:pt x="341" y="574"/>
                    <a:pt x="341" y="574"/>
                    <a:pt x="341" y="574"/>
                  </a:cubicBezTo>
                  <a:cubicBezTo>
                    <a:pt x="345" y="572"/>
                    <a:pt x="348" y="571"/>
                    <a:pt x="352" y="571"/>
                  </a:cubicBezTo>
                  <a:cubicBezTo>
                    <a:pt x="520" y="571"/>
                    <a:pt x="657" y="451"/>
                    <a:pt x="657" y="302"/>
                  </a:cubicBezTo>
                  <a:cubicBezTo>
                    <a:pt x="657" y="164"/>
                    <a:pt x="515" y="44"/>
                    <a:pt x="352" y="44"/>
                  </a:cubicBezTo>
                  <a:cubicBezTo>
                    <a:pt x="190" y="44"/>
                    <a:pt x="51" y="162"/>
                    <a:pt x="46" y="303"/>
                  </a:cubicBezTo>
                  <a:cubicBezTo>
                    <a:pt x="44" y="383"/>
                    <a:pt x="86" y="459"/>
                    <a:pt x="160" y="512"/>
                  </a:cubicBezTo>
                  <a:cubicBezTo>
                    <a:pt x="170" y="519"/>
                    <a:pt x="173" y="532"/>
                    <a:pt x="166" y="542"/>
                  </a:cubicBezTo>
                  <a:cubicBezTo>
                    <a:pt x="159" y="552"/>
                    <a:pt x="145" y="554"/>
                    <a:pt x="135" y="547"/>
                  </a:cubicBezTo>
                  <a:cubicBezTo>
                    <a:pt x="48" y="486"/>
                    <a:pt x="0" y="396"/>
                    <a:pt x="3" y="301"/>
                  </a:cubicBezTo>
                  <a:cubicBezTo>
                    <a:pt x="8" y="138"/>
                    <a:pt x="168" y="0"/>
                    <a:pt x="352" y="0"/>
                  </a:cubicBezTo>
                  <a:cubicBezTo>
                    <a:pt x="541" y="0"/>
                    <a:pt x="701" y="139"/>
                    <a:pt x="701" y="302"/>
                  </a:cubicBezTo>
                  <a:cubicBezTo>
                    <a:pt x="701" y="473"/>
                    <a:pt x="547" y="612"/>
                    <a:pt x="358" y="615"/>
                  </a:cubicBezTo>
                  <a:cubicBezTo>
                    <a:pt x="210" y="696"/>
                    <a:pt x="210" y="696"/>
                    <a:pt x="210" y="696"/>
                  </a:cubicBezTo>
                  <a:cubicBezTo>
                    <a:pt x="206" y="697"/>
                    <a:pt x="203" y="698"/>
                    <a:pt x="199" y="6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68"/>
            <p:cNvSpPr/>
            <p:nvPr>
              <p:custDataLst>
                <p:tags r:id="rId17"/>
              </p:custDataLst>
            </p:nvPr>
          </p:nvSpPr>
          <p:spPr bwMode="auto">
            <a:xfrm>
              <a:off x="2521" y="1364"/>
              <a:ext cx="516" cy="50"/>
            </a:xfrm>
            <a:custGeom>
              <a:avLst/>
              <a:gdLst>
                <a:gd name="T0" fmla="*/ 206 w 217"/>
                <a:gd name="T1" fmla="*/ 21 h 21"/>
                <a:gd name="T2" fmla="*/ 11 w 217"/>
                <a:gd name="T3" fmla="*/ 21 h 21"/>
                <a:gd name="T4" fmla="*/ 0 w 217"/>
                <a:gd name="T5" fmla="*/ 10 h 21"/>
                <a:gd name="T6" fmla="*/ 11 w 217"/>
                <a:gd name="T7" fmla="*/ 0 h 21"/>
                <a:gd name="T8" fmla="*/ 206 w 217"/>
                <a:gd name="T9" fmla="*/ 0 h 21"/>
                <a:gd name="T10" fmla="*/ 217 w 217"/>
                <a:gd name="T11" fmla="*/ 10 h 21"/>
                <a:gd name="T12" fmla="*/ 206 w 217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6" h="21">
                  <a:moveTo>
                    <a:pt x="206" y="21"/>
                  </a:moveTo>
                  <a:cubicBezTo>
                    <a:pt x="11" y="21"/>
                    <a:pt x="11" y="21"/>
                    <a:pt x="11" y="21"/>
                  </a:cubicBezTo>
                  <a:cubicBezTo>
                    <a:pt x="5" y="21"/>
                    <a:pt x="0" y="16"/>
                    <a:pt x="0" y="10"/>
                  </a:cubicBezTo>
                  <a:cubicBezTo>
                    <a:pt x="0" y="4"/>
                    <a:pt x="5" y="0"/>
                    <a:pt x="11" y="0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212" y="0"/>
                    <a:pt x="217" y="4"/>
                    <a:pt x="217" y="10"/>
                  </a:cubicBezTo>
                  <a:cubicBezTo>
                    <a:pt x="217" y="16"/>
                    <a:pt x="212" y="21"/>
                    <a:pt x="206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69"/>
            <p:cNvSpPr/>
            <p:nvPr>
              <p:custDataLst>
                <p:tags r:id="rId18"/>
              </p:custDataLst>
            </p:nvPr>
          </p:nvSpPr>
          <p:spPr bwMode="auto">
            <a:xfrm>
              <a:off x="3116" y="1364"/>
              <a:ext cx="128" cy="50"/>
            </a:xfrm>
            <a:custGeom>
              <a:avLst/>
              <a:gdLst>
                <a:gd name="T0" fmla="*/ 43 w 54"/>
                <a:gd name="T1" fmla="*/ 21 h 21"/>
                <a:gd name="T2" fmla="*/ 10 w 54"/>
                <a:gd name="T3" fmla="*/ 21 h 21"/>
                <a:gd name="T4" fmla="*/ 0 w 54"/>
                <a:gd name="T5" fmla="*/ 10 h 21"/>
                <a:gd name="T6" fmla="*/ 10 w 54"/>
                <a:gd name="T7" fmla="*/ 0 h 21"/>
                <a:gd name="T8" fmla="*/ 43 w 54"/>
                <a:gd name="T9" fmla="*/ 0 h 21"/>
                <a:gd name="T10" fmla="*/ 54 w 54"/>
                <a:gd name="T11" fmla="*/ 10 h 21"/>
                <a:gd name="T12" fmla="*/ 43 w 54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21">
                  <a:moveTo>
                    <a:pt x="43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4" y="21"/>
                    <a:pt x="0" y="16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9" y="0"/>
                    <a:pt x="54" y="4"/>
                    <a:pt x="54" y="10"/>
                  </a:cubicBezTo>
                  <a:cubicBezTo>
                    <a:pt x="54" y="16"/>
                    <a:pt x="49" y="21"/>
                    <a:pt x="43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70"/>
            <p:cNvSpPr/>
            <p:nvPr>
              <p:custDataLst>
                <p:tags r:id="rId19"/>
              </p:custDataLst>
            </p:nvPr>
          </p:nvSpPr>
          <p:spPr bwMode="auto">
            <a:xfrm>
              <a:off x="2547" y="1621"/>
              <a:ext cx="335" cy="53"/>
            </a:xfrm>
            <a:custGeom>
              <a:avLst/>
              <a:gdLst>
                <a:gd name="T0" fmla="*/ 130 w 141"/>
                <a:gd name="T1" fmla="*/ 22 h 22"/>
                <a:gd name="T2" fmla="*/ 11 w 141"/>
                <a:gd name="T3" fmla="*/ 22 h 22"/>
                <a:gd name="T4" fmla="*/ 0 w 141"/>
                <a:gd name="T5" fmla="*/ 11 h 22"/>
                <a:gd name="T6" fmla="*/ 11 w 141"/>
                <a:gd name="T7" fmla="*/ 0 h 22"/>
                <a:gd name="T8" fmla="*/ 130 w 141"/>
                <a:gd name="T9" fmla="*/ 0 h 22"/>
                <a:gd name="T10" fmla="*/ 141 w 141"/>
                <a:gd name="T11" fmla="*/ 11 h 22"/>
                <a:gd name="T12" fmla="*/ 130 w 141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22">
                  <a:moveTo>
                    <a:pt x="130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6" y="0"/>
                    <a:pt x="141" y="5"/>
                    <a:pt x="141" y="11"/>
                  </a:cubicBezTo>
                  <a:cubicBezTo>
                    <a:pt x="141" y="17"/>
                    <a:pt x="136" y="22"/>
                    <a:pt x="130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Freeform 71"/>
            <p:cNvSpPr/>
            <p:nvPr>
              <p:custDataLst>
                <p:tags r:id="rId20"/>
              </p:custDataLst>
            </p:nvPr>
          </p:nvSpPr>
          <p:spPr bwMode="auto">
            <a:xfrm>
              <a:off x="2935" y="1621"/>
              <a:ext cx="102" cy="53"/>
            </a:xfrm>
            <a:custGeom>
              <a:avLst/>
              <a:gdLst>
                <a:gd name="T0" fmla="*/ 32 w 43"/>
                <a:gd name="T1" fmla="*/ 22 h 22"/>
                <a:gd name="T2" fmla="*/ 10 w 43"/>
                <a:gd name="T3" fmla="*/ 22 h 22"/>
                <a:gd name="T4" fmla="*/ 0 w 43"/>
                <a:gd name="T5" fmla="*/ 11 h 22"/>
                <a:gd name="T6" fmla="*/ 10 w 43"/>
                <a:gd name="T7" fmla="*/ 0 h 22"/>
                <a:gd name="T8" fmla="*/ 32 w 43"/>
                <a:gd name="T9" fmla="*/ 0 h 22"/>
                <a:gd name="T10" fmla="*/ 43 w 43"/>
                <a:gd name="T11" fmla="*/ 11 h 22"/>
                <a:gd name="T12" fmla="*/ 32 w 43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22">
                  <a:moveTo>
                    <a:pt x="32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4" y="22"/>
                    <a:pt x="0" y="17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8" y="0"/>
                    <a:pt x="43" y="5"/>
                    <a:pt x="43" y="11"/>
                  </a:cubicBezTo>
                  <a:cubicBezTo>
                    <a:pt x="43" y="17"/>
                    <a:pt x="38" y="22"/>
                    <a:pt x="3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21"/>
            </p:custDataLst>
          </p:nvPr>
        </p:nvGrpSpPr>
        <p:grpSpPr>
          <a:xfrm>
            <a:off x="7429050" y="1959269"/>
            <a:ext cx="386509" cy="368761"/>
            <a:chOff x="2516370" y="4435326"/>
            <a:chExt cx="136481" cy="130214"/>
          </a:xfrm>
          <a:solidFill>
            <a:schemeClr val="bg1"/>
          </a:solidFill>
        </p:grpSpPr>
        <p:sp>
          <p:nvSpPr>
            <p:cNvPr id="32" name="Freeform 75"/>
            <p:cNvSpPr/>
            <p:nvPr>
              <p:custDataLst>
                <p:tags r:id="rId22"/>
              </p:custDataLst>
            </p:nvPr>
          </p:nvSpPr>
          <p:spPr bwMode="auto">
            <a:xfrm>
              <a:off x="2553898" y="4557313"/>
              <a:ext cx="64088" cy="8227"/>
            </a:xfrm>
            <a:custGeom>
              <a:avLst/>
              <a:gdLst>
                <a:gd name="T0" fmla="*/ 321 w 344"/>
                <a:gd name="T1" fmla="*/ 44 h 44"/>
                <a:gd name="T2" fmla="*/ 22 w 344"/>
                <a:gd name="T3" fmla="*/ 44 h 44"/>
                <a:gd name="T4" fmla="*/ 0 w 344"/>
                <a:gd name="T5" fmla="*/ 22 h 44"/>
                <a:gd name="T6" fmla="*/ 22 w 344"/>
                <a:gd name="T7" fmla="*/ 0 h 44"/>
                <a:gd name="T8" fmla="*/ 321 w 344"/>
                <a:gd name="T9" fmla="*/ 0 h 44"/>
                <a:gd name="T10" fmla="*/ 344 w 344"/>
                <a:gd name="T11" fmla="*/ 22 h 44"/>
                <a:gd name="T12" fmla="*/ 321 w 344"/>
                <a:gd name="T13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4" h="44">
                  <a:moveTo>
                    <a:pt x="321" y="44"/>
                  </a:moveTo>
                  <a:cubicBezTo>
                    <a:pt x="22" y="44"/>
                    <a:pt x="22" y="44"/>
                    <a:pt x="22" y="44"/>
                  </a:cubicBezTo>
                  <a:cubicBezTo>
                    <a:pt x="10" y="44"/>
                    <a:pt x="0" y="34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321" y="0"/>
                    <a:pt x="321" y="0"/>
                    <a:pt x="321" y="0"/>
                  </a:cubicBezTo>
                  <a:cubicBezTo>
                    <a:pt x="334" y="0"/>
                    <a:pt x="344" y="10"/>
                    <a:pt x="344" y="22"/>
                  </a:cubicBezTo>
                  <a:cubicBezTo>
                    <a:pt x="344" y="34"/>
                    <a:pt x="334" y="44"/>
                    <a:pt x="321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76"/>
            <p:cNvSpPr>
              <a:spLocks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2516370" y="4435326"/>
              <a:ext cx="136481" cy="105378"/>
            </a:xfrm>
            <a:custGeom>
              <a:avLst/>
              <a:gdLst>
                <a:gd name="T0" fmla="*/ 732 w 732"/>
                <a:gd name="T1" fmla="*/ 488 h 565"/>
                <a:gd name="T2" fmla="*/ 655 w 732"/>
                <a:gd name="T3" fmla="*/ 565 h 565"/>
                <a:gd name="T4" fmla="*/ 77 w 732"/>
                <a:gd name="T5" fmla="*/ 565 h 565"/>
                <a:gd name="T6" fmla="*/ 0 w 732"/>
                <a:gd name="T7" fmla="*/ 488 h 565"/>
                <a:gd name="T8" fmla="*/ 0 w 732"/>
                <a:gd name="T9" fmla="*/ 77 h 565"/>
                <a:gd name="T10" fmla="*/ 77 w 732"/>
                <a:gd name="T11" fmla="*/ 0 h 565"/>
                <a:gd name="T12" fmla="*/ 655 w 732"/>
                <a:gd name="T13" fmla="*/ 0 h 565"/>
                <a:gd name="T14" fmla="*/ 732 w 732"/>
                <a:gd name="T15" fmla="*/ 77 h 565"/>
                <a:gd name="T16" fmla="*/ 732 w 732"/>
                <a:gd name="T17" fmla="*/ 488 h 565"/>
                <a:gd name="T18" fmla="*/ 687 w 732"/>
                <a:gd name="T19" fmla="*/ 77 h 565"/>
                <a:gd name="T20" fmla="*/ 655 w 732"/>
                <a:gd name="T21" fmla="*/ 44 h 565"/>
                <a:gd name="T22" fmla="*/ 77 w 732"/>
                <a:gd name="T23" fmla="*/ 44 h 565"/>
                <a:gd name="T24" fmla="*/ 45 w 732"/>
                <a:gd name="T25" fmla="*/ 77 h 565"/>
                <a:gd name="T26" fmla="*/ 45 w 732"/>
                <a:gd name="T27" fmla="*/ 488 h 565"/>
                <a:gd name="T28" fmla="*/ 77 w 732"/>
                <a:gd name="T29" fmla="*/ 521 h 565"/>
                <a:gd name="T30" fmla="*/ 655 w 732"/>
                <a:gd name="T31" fmla="*/ 521 h 565"/>
                <a:gd name="T32" fmla="*/ 687 w 732"/>
                <a:gd name="T33" fmla="*/ 488 h 565"/>
                <a:gd name="T34" fmla="*/ 687 w 732"/>
                <a:gd name="T35" fmla="*/ 77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2" h="565">
                  <a:moveTo>
                    <a:pt x="732" y="488"/>
                  </a:moveTo>
                  <a:cubicBezTo>
                    <a:pt x="732" y="531"/>
                    <a:pt x="697" y="565"/>
                    <a:pt x="655" y="565"/>
                  </a:cubicBezTo>
                  <a:cubicBezTo>
                    <a:pt x="77" y="565"/>
                    <a:pt x="77" y="565"/>
                    <a:pt x="77" y="565"/>
                  </a:cubicBezTo>
                  <a:cubicBezTo>
                    <a:pt x="35" y="565"/>
                    <a:pt x="0" y="531"/>
                    <a:pt x="0" y="488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34"/>
                    <a:pt x="35" y="0"/>
                    <a:pt x="77" y="0"/>
                  </a:cubicBezTo>
                  <a:cubicBezTo>
                    <a:pt x="655" y="0"/>
                    <a:pt x="655" y="0"/>
                    <a:pt x="655" y="0"/>
                  </a:cubicBezTo>
                  <a:cubicBezTo>
                    <a:pt x="697" y="0"/>
                    <a:pt x="732" y="34"/>
                    <a:pt x="732" y="77"/>
                  </a:cubicBezTo>
                  <a:cubicBezTo>
                    <a:pt x="732" y="488"/>
                    <a:pt x="732" y="488"/>
                    <a:pt x="732" y="488"/>
                  </a:cubicBezTo>
                  <a:close/>
                  <a:moveTo>
                    <a:pt x="687" y="77"/>
                  </a:moveTo>
                  <a:cubicBezTo>
                    <a:pt x="687" y="59"/>
                    <a:pt x="673" y="44"/>
                    <a:pt x="655" y="44"/>
                  </a:cubicBezTo>
                  <a:cubicBezTo>
                    <a:pt x="77" y="44"/>
                    <a:pt x="77" y="44"/>
                    <a:pt x="77" y="44"/>
                  </a:cubicBezTo>
                  <a:cubicBezTo>
                    <a:pt x="59" y="44"/>
                    <a:pt x="45" y="59"/>
                    <a:pt x="45" y="77"/>
                  </a:cubicBezTo>
                  <a:cubicBezTo>
                    <a:pt x="45" y="488"/>
                    <a:pt x="45" y="488"/>
                    <a:pt x="45" y="488"/>
                  </a:cubicBezTo>
                  <a:cubicBezTo>
                    <a:pt x="45" y="506"/>
                    <a:pt x="59" y="521"/>
                    <a:pt x="77" y="521"/>
                  </a:cubicBezTo>
                  <a:cubicBezTo>
                    <a:pt x="655" y="521"/>
                    <a:pt x="655" y="521"/>
                    <a:pt x="655" y="521"/>
                  </a:cubicBezTo>
                  <a:cubicBezTo>
                    <a:pt x="673" y="521"/>
                    <a:pt x="687" y="506"/>
                    <a:pt x="687" y="488"/>
                  </a:cubicBezTo>
                  <a:lnTo>
                    <a:pt x="687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Freeform 77"/>
            <p:cNvSpPr/>
            <p:nvPr>
              <p:custDataLst>
                <p:tags r:id="rId24"/>
              </p:custDataLst>
            </p:nvPr>
          </p:nvSpPr>
          <p:spPr bwMode="auto">
            <a:xfrm>
              <a:off x="2518799" y="4513830"/>
              <a:ext cx="132250" cy="4152"/>
            </a:xfrm>
            <a:custGeom>
              <a:avLst/>
              <a:gdLst>
                <a:gd name="T0" fmla="*/ 698 w 709"/>
                <a:gd name="T1" fmla="*/ 22 h 22"/>
                <a:gd name="T2" fmla="*/ 11 w 709"/>
                <a:gd name="T3" fmla="*/ 22 h 22"/>
                <a:gd name="T4" fmla="*/ 0 w 709"/>
                <a:gd name="T5" fmla="*/ 11 h 22"/>
                <a:gd name="T6" fmla="*/ 11 w 709"/>
                <a:gd name="T7" fmla="*/ 0 h 22"/>
                <a:gd name="T8" fmla="*/ 698 w 709"/>
                <a:gd name="T9" fmla="*/ 0 h 22"/>
                <a:gd name="T10" fmla="*/ 709 w 709"/>
                <a:gd name="T11" fmla="*/ 11 h 22"/>
                <a:gd name="T12" fmla="*/ 698 w 70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9" h="22">
                  <a:moveTo>
                    <a:pt x="698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04" y="0"/>
                    <a:pt x="709" y="5"/>
                    <a:pt x="709" y="11"/>
                  </a:cubicBezTo>
                  <a:cubicBezTo>
                    <a:pt x="709" y="17"/>
                    <a:pt x="704" y="22"/>
                    <a:pt x="69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78"/>
            <p:cNvSpPr/>
            <p:nvPr>
              <p:custDataLst>
                <p:tags r:id="rId25"/>
              </p:custDataLst>
            </p:nvPr>
          </p:nvSpPr>
          <p:spPr bwMode="auto">
            <a:xfrm>
              <a:off x="2518799" y="4453973"/>
              <a:ext cx="132250" cy="4152"/>
            </a:xfrm>
            <a:custGeom>
              <a:avLst/>
              <a:gdLst>
                <a:gd name="T0" fmla="*/ 698 w 709"/>
                <a:gd name="T1" fmla="*/ 22 h 22"/>
                <a:gd name="T2" fmla="*/ 11 w 709"/>
                <a:gd name="T3" fmla="*/ 22 h 22"/>
                <a:gd name="T4" fmla="*/ 0 w 709"/>
                <a:gd name="T5" fmla="*/ 11 h 22"/>
                <a:gd name="T6" fmla="*/ 11 w 709"/>
                <a:gd name="T7" fmla="*/ 0 h 22"/>
                <a:gd name="T8" fmla="*/ 698 w 709"/>
                <a:gd name="T9" fmla="*/ 0 h 22"/>
                <a:gd name="T10" fmla="*/ 709 w 709"/>
                <a:gd name="T11" fmla="*/ 11 h 22"/>
                <a:gd name="T12" fmla="*/ 698 w 70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9" h="22">
                  <a:moveTo>
                    <a:pt x="698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04" y="0"/>
                    <a:pt x="709" y="5"/>
                    <a:pt x="709" y="11"/>
                  </a:cubicBezTo>
                  <a:cubicBezTo>
                    <a:pt x="709" y="17"/>
                    <a:pt x="704" y="22"/>
                    <a:pt x="69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79"/>
            <p:cNvSpPr/>
            <p:nvPr>
              <p:custDataLst>
                <p:tags r:id="rId26"/>
              </p:custDataLst>
            </p:nvPr>
          </p:nvSpPr>
          <p:spPr bwMode="auto">
            <a:xfrm>
              <a:off x="2575130" y="4482335"/>
              <a:ext cx="5249" cy="5954"/>
            </a:xfrm>
            <a:custGeom>
              <a:avLst/>
              <a:gdLst>
                <a:gd name="T0" fmla="*/ 12 w 28"/>
                <a:gd name="T1" fmla="*/ 32 h 32"/>
                <a:gd name="T2" fmla="*/ 8 w 28"/>
                <a:gd name="T3" fmla="*/ 31 h 32"/>
                <a:gd name="T4" fmla="*/ 2 w 28"/>
                <a:gd name="T5" fmla="*/ 16 h 32"/>
                <a:gd name="T6" fmla="*/ 5 w 28"/>
                <a:gd name="T7" fmla="*/ 9 h 32"/>
                <a:gd name="T8" fmla="*/ 19 w 28"/>
                <a:gd name="T9" fmla="*/ 2 h 32"/>
                <a:gd name="T10" fmla="*/ 26 w 28"/>
                <a:gd name="T11" fmla="*/ 17 h 32"/>
                <a:gd name="T12" fmla="*/ 23 w 28"/>
                <a:gd name="T13" fmla="*/ 24 h 32"/>
                <a:gd name="T14" fmla="*/ 12 w 28"/>
                <a:gd name="T1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2">
                  <a:moveTo>
                    <a:pt x="12" y="32"/>
                  </a:moveTo>
                  <a:cubicBezTo>
                    <a:pt x="11" y="32"/>
                    <a:pt x="10" y="31"/>
                    <a:pt x="8" y="31"/>
                  </a:cubicBezTo>
                  <a:cubicBezTo>
                    <a:pt x="3" y="29"/>
                    <a:pt x="0" y="22"/>
                    <a:pt x="2" y="16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7" y="3"/>
                    <a:pt x="14" y="0"/>
                    <a:pt x="19" y="2"/>
                  </a:cubicBezTo>
                  <a:cubicBezTo>
                    <a:pt x="25" y="5"/>
                    <a:pt x="28" y="11"/>
                    <a:pt x="26" y="17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1" y="29"/>
                    <a:pt x="17" y="32"/>
                    <a:pt x="12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Freeform 80"/>
            <p:cNvSpPr/>
            <p:nvPr>
              <p:custDataLst>
                <p:tags r:id="rId27"/>
              </p:custDataLst>
            </p:nvPr>
          </p:nvSpPr>
          <p:spPr bwMode="auto">
            <a:xfrm>
              <a:off x="2567139" y="4489073"/>
              <a:ext cx="10577" cy="19352"/>
            </a:xfrm>
            <a:custGeom>
              <a:avLst/>
              <a:gdLst>
                <a:gd name="T0" fmla="*/ 13 w 57"/>
                <a:gd name="T1" fmla="*/ 104 h 104"/>
                <a:gd name="T2" fmla="*/ 9 w 57"/>
                <a:gd name="T3" fmla="*/ 103 h 104"/>
                <a:gd name="T4" fmla="*/ 3 w 57"/>
                <a:gd name="T5" fmla="*/ 89 h 104"/>
                <a:gd name="T6" fmla="*/ 34 w 57"/>
                <a:gd name="T7" fmla="*/ 8 h 104"/>
                <a:gd name="T8" fmla="*/ 48 w 57"/>
                <a:gd name="T9" fmla="*/ 2 h 104"/>
                <a:gd name="T10" fmla="*/ 55 w 57"/>
                <a:gd name="T11" fmla="*/ 16 h 104"/>
                <a:gd name="T12" fmla="*/ 23 w 57"/>
                <a:gd name="T13" fmla="*/ 97 h 104"/>
                <a:gd name="T14" fmla="*/ 13 w 57"/>
                <a:gd name="T15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04">
                  <a:moveTo>
                    <a:pt x="13" y="104"/>
                  </a:moveTo>
                  <a:cubicBezTo>
                    <a:pt x="12" y="104"/>
                    <a:pt x="10" y="104"/>
                    <a:pt x="9" y="103"/>
                  </a:cubicBezTo>
                  <a:cubicBezTo>
                    <a:pt x="3" y="101"/>
                    <a:pt x="0" y="95"/>
                    <a:pt x="3" y="89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6" y="3"/>
                    <a:pt x="43" y="0"/>
                    <a:pt x="48" y="2"/>
                  </a:cubicBezTo>
                  <a:cubicBezTo>
                    <a:pt x="54" y="4"/>
                    <a:pt x="57" y="11"/>
                    <a:pt x="55" y="16"/>
                  </a:cubicBezTo>
                  <a:cubicBezTo>
                    <a:pt x="23" y="97"/>
                    <a:pt x="23" y="97"/>
                    <a:pt x="23" y="97"/>
                  </a:cubicBezTo>
                  <a:cubicBezTo>
                    <a:pt x="22" y="101"/>
                    <a:pt x="17" y="104"/>
                    <a:pt x="13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81"/>
            <p:cNvSpPr/>
            <p:nvPr>
              <p:custDataLst>
                <p:tags r:id="rId28"/>
              </p:custDataLst>
            </p:nvPr>
          </p:nvSpPr>
          <p:spPr bwMode="auto">
            <a:xfrm>
              <a:off x="2558913" y="4467997"/>
              <a:ext cx="13241" cy="26482"/>
            </a:xfrm>
            <a:custGeom>
              <a:avLst/>
              <a:gdLst>
                <a:gd name="T0" fmla="*/ 12 w 71"/>
                <a:gd name="T1" fmla="*/ 142 h 142"/>
                <a:gd name="T2" fmla="*/ 8 w 71"/>
                <a:gd name="T3" fmla="*/ 141 h 142"/>
                <a:gd name="T4" fmla="*/ 2 w 71"/>
                <a:gd name="T5" fmla="*/ 127 h 142"/>
                <a:gd name="T6" fmla="*/ 48 w 71"/>
                <a:gd name="T7" fmla="*/ 9 h 142"/>
                <a:gd name="T8" fmla="*/ 62 w 71"/>
                <a:gd name="T9" fmla="*/ 2 h 142"/>
                <a:gd name="T10" fmla="*/ 68 w 71"/>
                <a:gd name="T11" fmla="*/ 17 h 142"/>
                <a:gd name="T12" fmla="*/ 22 w 71"/>
                <a:gd name="T13" fmla="*/ 135 h 142"/>
                <a:gd name="T14" fmla="*/ 12 w 71"/>
                <a:gd name="T15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142">
                  <a:moveTo>
                    <a:pt x="12" y="142"/>
                  </a:moveTo>
                  <a:cubicBezTo>
                    <a:pt x="11" y="142"/>
                    <a:pt x="9" y="141"/>
                    <a:pt x="8" y="141"/>
                  </a:cubicBezTo>
                  <a:cubicBezTo>
                    <a:pt x="2" y="139"/>
                    <a:pt x="0" y="132"/>
                    <a:pt x="2" y="127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0" y="3"/>
                    <a:pt x="56" y="0"/>
                    <a:pt x="62" y="2"/>
                  </a:cubicBezTo>
                  <a:cubicBezTo>
                    <a:pt x="68" y="4"/>
                    <a:pt x="71" y="11"/>
                    <a:pt x="68" y="17"/>
                  </a:cubicBezTo>
                  <a:cubicBezTo>
                    <a:pt x="22" y="135"/>
                    <a:pt x="22" y="135"/>
                    <a:pt x="22" y="135"/>
                  </a:cubicBezTo>
                  <a:cubicBezTo>
                    <a:pt x="21" y="139"/>
                    <a:pt x="17" y="142"/>
                    <a:pt x="12" y="1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82"/>
            <p:cNvSpPr/>
            <p:nvPr>
              <p:custDataLst>
                <p:tags r:id="rId29"/>
              </p:custDataLst>
            </p:nvPr>
          </p:nvSpPr>
          <p:spPr bwMode="auto">
            <a:xfrm>
              <a:off x="2554839" y="4497064"/>
              <a:ext cx="5954" cy="7678"/>
            </a:xfrm>
            <a:custGeom>
              <a:avLst/>
              <a:gdLst>
                <a:gd name="T0" fmla="*/ 13 w 32"/>
                <a:gd name="T1" fmla="*/ 41 h 41"/>
                <a:gd name="T2" fmla="*/ 9 w 32"/>
                <a:gd name="T3" fmla="*/ 40 h 41"/>
                <a:gd name="T4" fmla="*/ 2 w 32"/>
                <a:gd name="T5" fmla="*/ 26 h 41"/>
                <a:gd name="T6" fmla="*/ 9 w 32"/>
                <a:gd name="T7" fmla="*/ 9 h 41"/>
                <a:gd name="T8" fmla="*/ 23 w 32"/>
                <a:gd name="T9" fmla="*/ 2 h 41"/>
                <a:gd name="T10" fmla="*/ 30 w 32"/>
                <a:gd name="T11" fmla="*/ 17 h 41"/>
                <a:gd name="T12" fmla="*/ 23 w 32"/>
                <a:gd name="T13" fmla="*/ 34 h 41"/>
                <a:gd name="T14" fmla="*/ 13 w 32"/>
                <a:gd name="T1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13" y="41"/>
                  </a:moveTo>
                  <a:cubicBezTo>
                    <a:pt x="11" y="41"/>
                    <a:pt x="10" y="41"/>
                    <a:pt x="9" y="40"/>
                  </a:cubicBezTo>
                  <a:cubicBezTo>
                    <a:pt x="3" y="38"/>
                    <a:pt x="0" y="32"/>
                    <a:pt x="2" y="26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1" y="3"/>
                    <a:pt x="18" y="0"/>
                    <a:pt x="23" y="2"/>
                  </a:cubicBezTo>
                  <a:cubicBezTo>
                    <a:pt x="29" y="4"/>
                    <a:pt x="32" y="11"/>
                    <a:pt x="30" y="17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1" y="38"/>
                    <a:pt x="17" y="41"/>
                    <a:pt x="13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5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93485" y="3110865"/>
            <a:ext cx="2597150" cy="1454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53035" y="901065"/>
            <a:ext cx="8831580" cy="42424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8600" y="302436"/>
            <a:ext cx="2358543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项目工作</a:t>
            </a:r>
            <a:r>
              <a:rPr lang="zh-CN" altLang="en-US" sz="2400" dirty="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范围</a:t>
            </a:r>
            <a:endParaRPr lang="zh-CN" altLang="en-US" sz="2400" dirty="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 rot="5400000">
            <a:off x="8782172" y="372975"/>
            <a:ext cx="145928" cy="145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 rot="5400000">
            <a:off x="8533535" y="372975"/>
            <a:ext cx="145928" cy="145928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51478" y="2995892"/>
            <a:ext cx="238385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1400" dirty="0">
                <a:ln w="3175">
                  <a:gradFill>
                    <a:gsLst>
                      <a:gs pos="0">
                        <a:schemeClr val="bg1"/>
                      </a:gs>
                      <a:gs pos="72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noFill/>
                <a:latin typeface="时尚中黑简体" panose="01010104010101010101" pitchFamily="2" charset="-122"/>
                <a:ea typeface="时尚中黑简体" panose="01010104010101010101" pitchFamily="2" charset="-122"/>
                <a:sym typeface="思源黑体 CN Normal"/>
              </a:rPr>
              <a:t>Summary Review</a:t>
            </a:r>
            <a:endParaRPr lang="en-US" altLang="zh-CN" sz="1400" dirty="0">
              <a:ln w="3175">
                <a:gradFill>
                  <a:gsLst>
                    <a:gs pos="0">
                      <a:schemeClr val="bg1"/>
                    </a:gs>
                    <a:gs pos="72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  <a:noFill/>
              <a:latin typeface="时尚中黑简体" panose="01010104010101010101" pitchFamily="2" charset="-122"/>
              <a:ea typeface="时尚中黑简体" panose="01010104010101010101" pitchFamily="2" charset="-122"/>
              <a:sym typeface="思源黑体 CN Normal"/>
            </a:endParaRPr>
          </a:p>
        </p:txBody>
      </p:sp>
      <p:sp>
        <p:nvSpPr>
          <p:cNvPr id="50" name="矩形 49"/>
          <p:cNvSpPr/>
          <p:nvPr>
            <p:custDataLst>
              <p:tags r:id="rId1"/>
            </p:custDataLst>
          </p:nvPr>
        </p:nvSpPr>
        <p:spPr>
          <a:xfrm>
            <a:off x="3964103" y="1863904"/>
            <a:ext cx="4715036" cy="2272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kern="0" dirty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1.</a:t>
            </a:r>
            <a:r>
              <a:rPr lang="zh-CN" altLang="en-US" sz="1050" kern="0" dirty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开展校务咨询需求调研，明确核心业务场景和功能边界；</a:t>
            </a:r>
            <a:endParaRPr lang="zh-CN" altLang="en-US" sz="1050" kern="0" dirty="0">
              <a:solidFill>
                <a:srgbClr val="5C5C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CN Normal"/>
            </a:endParaRPr>
          </a:p>
          <a:p>
            <a:pPr>
              <a:lnSpc>
                <a:spcPct val="150000"/>
              </a:lnSpc>
            </a:pPr>
            <a:r>
              <a:rPr lang="en-US" altLang="zh-CN" sz="1050" kern="0" dirty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2.</a:t>
            </a:r>
            <a:r>
              <a:rPr lang="zh-CN" altLang="en-US" sz="1050" kern="0" dirty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完成系统总体架构设计、前后端方案设计、数据库设计及模型接入方案设计；</a:t>
            </a:r>
            <a:endParaRPr lang="zh-CN" altLang="en-US" sz="1050" kern="0" dirty="0">
              <a:solidFill>
                <a:srgbClr val="5C5C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CN Normal"/>
            </a:endParaRPr>
          </a:p>
          <a:p>
            <a:pPr>
              <a:lnSpc>
                <a:spcPct val="150000"/>
              </a:lnSpc>
            </a:pPr>
            <a:r>
              <a:rPr lang="en-US" altLang="zh-CN" sz="1050" kern="0" dirty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3.</a:t>
            </a:r>
            <a:r>
              <a:rPr lang="zh-CN" altLang="en-US" sz="1050" kern="0" dirty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收集整理学校公开校务资料，建立结构化知识库；</a:t>
            </a:r>
            <a:endParaRPr lang="zh-CN" altLang="en-US" sz="1050" kern="0" dirty="0">
              <a:solidFill>
                <a:srgbClr val="5C5C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CN Normal"/>
            </a:endParaRPr>
          </a:p>
          <a:p>
            <a:pPr>
              <a:lnSpc>
                <a:spcPct val="150000"/>
              </a:lnSpc>
            </a:pPr>
            <a:r>
              <a:rPr lang="en-US" altLang="zh-CN" sz="1050" kern="0" dirty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4.</a:t>
            </a:r>
            <a:r>
              <a:rPr lang="zh-CN" altLang="en-US" sz="1050" kern="0" dirty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收集整理各类业务事项对应的办理入口、通知页面和服务系统链接，建立入口映射关系；</a:t>
            </a:r>
            <a:endParaRPr lang="zh-CN" altLang="en-US" sz="1050" kern="0" dirty="0">
              <a:solidFill>
                <a:srgbClr val="5C5C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CN Normal"/>
            </a:endParaRPr>
          </a:p>
          <a:p>
            <a:pPr>
              <a:lnSpc>
                <a:spcPct val="150000"/>
              </a:lnSpc>
            </a:pPr>
            <a:r>
              <a:rPr lang="en-US" altLang="zh-CN" sz="1050" kern="0" dirty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5.</a:t>
            </a:r>
            <a:r>
              <a:rPr lang="zh-CN" altLang="en-US" sz="1050" kern="0" dirty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开发文本问答、知识库管理、办事入口跳转、聊天记录管理和互动反馈等模块；</a:t>
            </a:r>
            <a:endParaRPr lang="zh-CN" altLang="en-US" sz="1050" kern="0" dirty="0">
              <a:solidFill>
                <a:srgbClr val="5C5C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CN Normal"/>
            </a:endParaRPr>
          </a:p>
          <a:p>
            <a:pPr>
              <a:lnSpc>
                <a:spcPct val="150000"/>
              </a:lnSpc>
            </a:pPr>
            <a:r>
              <a:rPr lang="en-US" altLang="zh-CN" sz="1050" kern="0" dirty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6.</a:t>
            </a:r>
            <a:r>
              <a:rPr lang="zh-CN" altLang="en-US" sz="1050" kern="0" dirty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开展功能测试、性能测试和可用性测试，并对系统进行优化完善；</a:t>
            </a:r>
            <a:endParaRPr lang="zh-CN" altLang="en-US" sz="1050" kern="0" dirty="0">
              <a:solidFill>
                <a:srgbClr val="5C5C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CN Normal"/>
            </a:endParaRPr>
          </a:p>
          <a:p>
            <a:pPr>
              <a:lnSpc>
                <a:spcPct val="150000"/>
              </a:lnSpc>
            </a:pPr>
            <a:r>
              <a:rPr lang="en-US" altLang="zh-CN" sz="1050" kern="0" dirty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7.</a:t>
            </a:r>
            <a:r>
              <a:rPr lang="zh-CN" altLang="en-US" sz="1050" kern="0" dirty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/>
              </a:rPr>
              <a:t>完成系统部署、演示准备、项目文档整理和答辩材料编制。</a:t>
            </a:r>
            <a:endParaRPr lang="zh-CN" altLang="en-US" sz="1050" kern="0" dirty="0">
              <a:solidFill>
                <a:srgbClr val="5C5C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CN Normal"/>
            </a:endParaRPr>
          </a:p>
        </p:txBody>
      </p:sp>
      <p:sp>
        <p:nvSpPr>
          <p:cNvPr id="51" name="矩形 50"/>
          <p:cNvSpPr/>
          <p:nvPr>
            <p:custDataLst>
              <p:tags r:id="rId2"/>
            </p:custDataLst>
          </p:nvPr>
        </p:nvSpPr>
        <p:spPr>
          <a:xfrm>
            <a:off x="4012363" y="1415234"/>
            <a:ext cx="148917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zh-CN" altLang="en-US" sz="1600" dirty="0">
                <a:ln w="19050">
                  <a:noFill/>
                </a:ln>
                <a:solidFill>
                  <a:srgbClr val="5C5C5C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主要工作</a:t>
            </a:r>
            <a:endParaRPr lang="zh-CN" altLang="en-US" sz="1600" dirty="0">
              <a:ln w="19050">
                <a:noFill/>
              </a:ln>
              <a:solidFill>
                <a:srgbClr val="5C5C5C"/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+mn-lt"/>
            </a:endParaRPr>
          </a:p>
        </p:txBody>
      </p:sp>
      <p:grpSp>
        <p:nvGrpSpPr>
          <p:cNvPr id="4" name="Group 59" descr="e7d195523061f1c09e9d68d7cf438b91ef959ecb14fc25d26BBA7F7DBC18E55DFF4014AF651F0BF2569D4B6C1DA7F1A4683A481403BD872FC687266AD13265C1DE7C373772FD8728ABDD69ADD03BFF5BE2862BC891DBB79E58D088E34357A3F345A9534864FDC11340AE3B71A34A7A1F7BD2127AAE3642502E0D4AD8564642CBC6FC46C984D10741322C9CACD20D41DC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2838309" y="1207253"/>
            <a:ext cx="149289" cy="148579"/>
            <a:chOff x="2039" y="775"/>
            <a:chExt cx="1683" cy="1675"/>
          </a:xfrm>
          <a:solidFill>
            <a:schemeClr val="bg1"/>
          </a:solidFill>
        </p:grpSpPr>
        <p:sp>
          <p:nvSpPr>
            <p:cNvPr id="7" name="Freeform 60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2039" y="775"/>
              <a:ext cx="1683" cy="1675"/>
            </a:xfrm>
            <a:custGeom>
              <a:avLst/>
              <a:gdLst>
                <a:gd name="T0" fmla="*/ 485 w 707"/>
                <a:gd name="T1" fmla="*/ 704 h 704"/>
                <a:gd name="T2" fmla="*/ 419 w 707"/>
                <a:gd name="T3" fmla="*/ 672 h 704"/>
                <a:gd name="T4" fmla="*/ 37 w 707"/>
                <a:gd name="T5" fmla="*/ 290 h 704"/>
                <a:gd name="T6" fmla="*/ 7 w 707"/>
                <a:gd name="T7" fmla="*/ 206 h 704"/>
                <a:gd name="T8" fmla="*/ 74 w 707"/>
                <a:gd name="T9" fmla="*/ 149 h 704"/>
                <a:gd name="T10" fmla="*/ 595 w 707"/>
                <a:gd name="T11" fmla="*/ 10 h 704"/>
                <a:gd name="T12" fmla="*/ 688 w 707"/>
                <a:gd name="T13" fmla="*/ 33 h 704"/>
                <a:gd name="T14" fmla="*/ 699 w 707"/>
                <a:gd name="T15" fmla="*/ 114 h 704"/>
                <a:gd name="T16" fmla="*/ 560 w 707"/>
                <a:gd name="T17" fmla="*/ 635 h 704"/>
                <a:gd name="T18" fmla="*/ 485 w 707"/>
                <a:gd name="T19" fmla="*/ 704 h 704"/>
                <a:gd name="T20" fmla="*/ 627 w 707"/>
                <a:gd name="T21" fmla="*/ 49 h 704"/>
                <a:gd name="T22" fmla="*/ 606 w 707"/>
                <a:gd name="T23" fmla="*/ 52 h 704"/>
                <a:gd name="T24" fmla="*/ 85 w 707"/>
                <a:gd name="T25" fmla="*/ 191 h 704"/>
                <a:gd name="T26" fmla="*/ 49 w 707"/>
                <a:gd name="T27" fmla="*/ 218 h 704"/>
                <a:gd name="T28" fmla="*/ 68 w 707"/>
                <a:gd name="T29" fmla="*/ 259 h 704"/>
                <a:gd name="T30" fmla="*/ 449 w 707"/>
                <a:gd name="T31" fmla="*/ 641 h 704"/>
                <a:gd name="T32" fmla="*/ 485 w 707"/>
                <a:gd name="T33" fmla="*/ 660 h 704"/>
                <a:gd name="T34" fmla="*/ 517 w 707"/>
                <a:gd name="T35" fmla="*/ 623 h 704"/>
                <a:gd name="T36" fmla="*/ 656 w 707"/>
                <a:gd name="T37" fmla="*/ 103 h 704"/>
                <a:gd name="T38" fmla="*/ 653 w 707"/>
                <a:gd name="T39" fmla="*/ 60 h 704"/>
                <a:gd name="T40" fmla="*/ 627 w 707"/>
                <a:gd name="T41" fmla="*/ 49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07" h="704">
                  <a:moveTo>
                    <a:pt x="485" y="704"/>
                  </a:moveTo>
                  <a:cubicBezTo>
                    <a:pt x="462" y="704"/>
                    <a:pt x="439" y="693"/>
                    <a:pt x="419" y="672"/>
                  </a:cubicBezTo>
                  <a:cubicBezTo>
                    <a:pt x="37" y="290"/>
                    <a:pt x="37" y="290"/>
                    <a:pt x="37" y="290"/>
                  </a:cubicBezTo>
                  <a:cubicBezTo>
                    <a:pt x="10" y="264"/>
                    <a:pt x="0" y="234"/>
                    <a:pt x="7" y="206"/>
                  </a:cubicBezTo>
                  <a:cubicBezTo>
                    <a:pt x="15" y="179"/>
                    <a:pt x="38" y="159"/>
                    <a:pt x="74" y="149"/>
                  </a:cubicBezTo>
                  <a:cubicBezTo>
                    <a:pt x="595" y="10"/>
                    <a:pt x="595" y="10"/>
                    <a:pt x="595" y="10"/>
                  </a:cubicBezTo>
                  <a:cubicBezTo>
                    <a:pt x="634" y="0"/>
                    <a:pt x="669" y="8"/>
                    <a:pt x="688" y="33"/>
                  </a:cubicBezTo>
                  <a:cubicBezTo>
                    <a:pt x="703" y="54"/>
                    <a:pt x="707" y="82"/>
                    <a:pt x="699" y="114"/>
                  </a:cubicBezTo>
                  <a:cubicBezTo>
                    <a:pt x="560" y="635"/>
                    <a:pt x="560" y="635"/>
                    <a:pt x="560" y="635"/>
                  </a:cubicBezTo>
                  <a:cubicBezTo>
                    <a:pt x="548" y="678"/>
                    <a:pt x="520" y="704"/>
                    <a:pt x="485" y="704"/>
                  </a:cubicBezTo>
                  <a:close/>
                  <a:moveTo>
                    <a:pt x="627" y="49"/>
                  </a:moveTo>
                  <a:cubicBezTo>
                    <a:pt x="620" y="49"/>
                    <a:pt x="613" y="50"/>
                    <a:pt x="606" y="52"/>
                  </a:cubicBezTo>
                  <a:cubicBezTo>
                    <a:pt x="85" y="191"/>
                    <a:pt x="85" y="191"/>
                    <a:pt x="85" y="191"/>
                  </a:cubicBezTo>
                  <a:cubicBezTo>
                    <a:pt x="66" y="197"/>
                    <a:pt x="53" y="206"/>
                    <a:pt x="49" y="218"/>
                  </a:cubicBezTo>
                  <a:cubicBezTo>
                    <a:pt x="46" y="229"/>
                    <a:pt x="53" y="245"/>
                    <a:pt x="68" y="259"/>
                  </a:cubicBezTo>
                  <a:cubicBezTo>
                    <a:pt x="449" y="641"/>
                    <a:pt x="449" y="641"/>
                    <a:pt x="449" y="641"/>
                  </a:cubicBezTo>
                  <a:cubicBezTo>
                    <a:pt x="462" y="653"/>
                    <a:pt x="474" y="660"/>
                    <a:pt x="485" y="660"/>
                  </a:cubicBezTo>
                  <a:cubicBezTo>
                    <a:pt x="505" y="660"/>
                    <a:pt x="515" y="634"/>
                    <a:pt x="517" y="623"/>
                  </a:cubicBezTo>
                  <a:cubicBezTo>
                    <a:pt x="656" y="103"/>
                    <a:pt x="656" y="103"/>
                    <a:pt x="656" y="103"/>
                  </a:cubicBezTo>
                  <a:cubicBezTo>
                    <a:pt x="661" y="84"/>
                    <a:pt x="660" y="69"/>
                    <a:pt x="653" y="60"/>
                  </a:cubicBezTo>
                  <a:cubicBezTo>
                    <a:pt x="646" y="51"/>
                    <a:pt x="635" y="49"/>
                    <a:pt x="627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61"/>
            <p:cNvSpPr/>
            <p:nvPr>
              <p:custDataLst>
                <p:tags r:id="rId5"/>
              </p:custDataLst>
            </p:nvPr>
          </p:nvSpPr>
          <p:spPr bwMode="auto">
            <a:xfrm>
              <a:off x="3265" y="1815"/>
              <a:ext cx="59" cy="64"/>
            </a:xfrm>
            <a:custGeom>
              <a:avLst/>
              <a:gdLst>
                <a:gd name="T0" fmla="*/ 12 w 25"/>
                <a:gd name="T1" fmla="*/ 27 h 27"/>
                <a:gd name="T2" fmla="*/ 10 w 25"/>
                <a:gd name="T3" fmla="*/ 27 h 27"/>
                <a:gd name="T4" fmla="*/ 2 w 25"/>
                <a:gd name="T5" fmla="*/ 14 h 27"/>
                <a:gd name="T6" fmla="*/ 3 w 25"/>
                <a:gd name="T7" fmla="*/ 9 h 27"/>
                <a:gd name="T8" fmla="*/ 16 w 25"/>
                <a:gd name="T9" fmla="*/ 1 h 27"/>
                <a:gd name="T10" fmla="*/ 24 w 25"/>
                <a:gd name="T11" fmla="*/ 15 h 27"/>
                <a:gd name="T12" fmla="*/ 23 w 25"/>
                <a:gd name="T13" fmla="*/ 19 h 27"/>
                <a:gd name="T14" fmla="*/ 12 w 25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7">
                  <a:moveTo>
                    <a:pt x="12" y="27"/>
                  </a:moveTo>
                  <a:cubicBezTo>
                    <a:pt x="11" y="27"/>
                    <a:pt x="10" y="27"/>
                    <a:pt x="10" y="27"/>
                  </a:cubicBezTo>
                  <a:cubicBezTo>
                    <a:pt x="4" y="25"/>
                    <a:pt x="0" y="19"/>
                    <a:pt x="2" y="14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3"/>
                    <a:pt x="10" y="0"/>
                    <a:pt x="16" y="1"/>
                  </a:cubicBezTo>
                  <a:cubicBezTo>
                    <a:pt x="22" y="3"/>
                    <a:pt x="25" y="9"/>
                    <a:pt x="24" y="15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24"/>
                    <a:pt x="17" y="27"/>
                    <a:pt x="1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62"/>
            <p:cNvSpPr/>
            <p:nvPr>
              <p:custDataLst>
                <p:tags r:id="rId6"/>
              </p:custDataLst>
            </p:nvPr>
          </p:nvSpPr>
          <p:spPr bwMode="auto">
            <a:xfrm>
              <a:off x="3193" y="1891"/>
              <a:ext cx="112" cy="267"/>
            </a:xfrm>
            <a:custGeom>
              <a:avLst/>
              <a:gdLst>
                <a:gd name="T0" fmla="*/ 12 w 47"/>
                <a:gd name="T1" fmla="*/ 112 h 112"/>
                <a:gd name="T2" fmla="*/ 9 w 47"/>
                <a:gd name="T3" fmla="*/ 112 h 112"/>
                <a:gd name="T4" fmla="*/ 1 w 47"/>
                <a:gd name="T5" fmla="*/ 99 h 112"/>
                <a:gd name="T6" fmla="*/ 25 w 47"/>
                <a:gd name="T7" fmla="*/ 9 h 112"/>
                <a:gd name="T8" fmla="*/ 38 w 47"/>
                <a:gd name="T9" fmla="*/ 1 h 112"/>
                <a:gd name="T10" fmla="*/ 46 w 47"/>
                <a:gd name="T11" fmla="*/ 14 h 112"/>
                <a:gd name="T12" fmla="*/ 22 w 47"/>
                <a:gd name="T13" fmla="*/ 104 h 112"/>
                <a:gd name="T14" fmla="*/ 12 w 47"/>
                <a:gd name="T15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112">
                  <a:moveTo>
                    <a:pt x="12" y="112"/>
                  </a:moveTo>
                  <a:cubicBezTo>
                    <a:pt x="11" y="112"/>
                    <a:pt x="10" y="112"/>
                    <a:pt x="9" y="112"/>
                  </a:cubicBezTo>
                  <a:cubicBezTo>
                    <a:pt x="3" y="110"/>
                    <a:pt x="0" y="104"/>
                    <a:pt x="1" y="9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6" y="3"/>
                    <a:pt x="32" y="0"/>
                    <a:pt x="38" y="1"/>
                  </a:cubicBezTo>
                  <a:cubicBezTo>
                    <a:pt x="44" y="3"/>
                    <a:pt x="47" y="9"/>
                    <a:pt x="46" y="1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1" y="109"/>
                    <a:pt x="17" y="112"/>
                    <a:pt x="12" y="1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63"/>
            <p:cNvSpPr/>
            <p:nvPr>
              <p:custDataLst>
                <p:tags r:id="rId7"/>
              </p:custDataLst>
            </p:nvPr>
          </p:nvSpPr>
          <p:spPr bwMode="auto">
            <a:xfrm>
              <a:off x="2569" y="1487"/>
              <a:ext cx="462" cy="457"/>
            </a:xfrm>
            <a:custGeom>
              <a:avLst/>
              <a:gdLst>
                <a:gd name="T0" fmla="*/ 24 w 194"/>
                <a:gd name="T1" fmla="*/ 192 h 192"/>
                <a:gd name="T2" fmla="*/ 8 w 194"/>
                <a:gd name="T3" fmla="*/ 186 h 192"/>
                <a:gd name="T4" fmla="*/ 8 w 194"/>
                <a:gd name="T5" fmla="*/ 155 h 192"/>
                <a:gd name="T6" fmla="*/ 155 w 194"/>
                <a:gd name="T7" fmla="*/ 8 h 192"/>
                <a:gd name="T8" fmla="*/ 186 w 194"/>
                <a:gd name="T9" fmla="*/ 8 h 192"/>
                <a:gd name="T10" fmla="*/ 186 w 194"/>
                <a:gd name="T11" fmla="*/ 39 h 192"/>
                <a:gd name="T12" fmla="*/ 39 w 194"/>
                <a:gd name="T13" fmla="*/ 186 h 192"/>
                <a:gd name="T14" fmla="*/ 24 w 194"/>
                <a:gd name="T1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92">
                  <a:moveTo>
                    <a:pt x="24" y="192"/>
                  </a:moveTo>
                  <a:cubicBezTo>
                    <a:pt x="18" y="192"/>
                    <a:pt x="13" y="190"/>
                    <a:pt x="8" y="186"/>
                  </a:cubicBezTo>
                  <a:cubicBezTo>
                    <a:pt x="0" y="177"/>
                    <a:pt x="0" y="163"/>
                    <a:pt x="8" y="155"/>
                  </a:cubicBezTo>
                  <a:cubicBezTo>
                    <a:pt x="155" y="8"/>
                    <a:pt x="155" y="8"/>
                    <a:pt x="155" y="8"/>
                  </a:cubicBezTo>
                  <a:cubicBezTo>
                    <a:pt x="164" y="0"/>
                    <a:pt x="177" y="0"/>
                    <a:pt x="186" y="8"/>
                  </a:cubicBezTo>
                  <a:cubicBezTo>
                    <a:pt x="194" y="17"/>
                    <a:pt x="194" y="31"/>
                    <a:pt x="186" y="39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5" y="190"/>
                    <a:pt x="29" y="192"/>
                    <a:pt x="24" y="1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8"/>
            </p:custDataLst>
          </p:nvPr>
        </p:nvGrpSpPr>
        <p:grpSpPr>
          <a:xfrm>
            <a:off x="2931403" y="4249037"/>
            <a:ext cx="147659" cy="140878"/>
            <a:chOff x="2516370" y="4435326"/>
            <a:chExt cx="136481" cy="130214"/>
          </a:xfrm>
          <a:solidFill>
            <a:schemeClr val="bg1"/>
          </a:solidFill>
        </p:grpSpPr>
        <p:sp>
          <p:nvSpPr>
            <p:cNvPr id="24" name="Freeform 75"/>
            <p:cNvSpPr/>
            <p:nvPr>
              <p:custDataLst>
                <p:tags r:id="rId9"/>
              </p:custDataLst>
            </p:nvPr>
          </p:nvSpPr>
          <p:spPr bwMode="auto">
            <a:xfrm>
              <a:off x="2553898" y="4557313"/>
              <a:ext cx="64088" cy="8227"/>
            </a:xfrm>
            <a:custGeom>
              <a:avLst/>
              <a:gdLst>
                <a:gd name="T0" fmla="*/ 321 w 344"/>
                <a:gd name="T1" fmla="*/ 44 h 44"/>
                <a:gd name="T2" fmla="*/ 22 w 344"/>
                <a:gd name="T3" fmla="*/ 44 h 44"/>
                <a:gd name="T4" fmla="*/ 0 w 344"/>
                <a:gd name="T5" fmla="*/ 22 h 44"/>
                <a:gd name="T6" fmla="*/ 22 w 344"/>
                <a:gd name="T7" fmla="*/ 0 h 44"/>
                <a:gd name="T8" fmla="*/ 321 w 344"/>
                <a:gd name="T9" fmla="*/ 0 h 44"/>
                <a:gd name="T10" fmla="*/ 344 w 344"/>
                <a:gd name="T11" fmla="*/ 22 h 44"/>
                <a:gd name="T12" fmla="*/ 321 w 344"/>
                <a:gd name="T13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4" h="44">
                  <a:moveTo>
                    <a:pt x="321" y="44"/>
                  </a:moveTo>
                  <a:cubicBezTo>
                    <a:pt x="22" y="44"/>
                    <a:pt x="22" y="44"/>
                    <a:pt x="22" y="44"/>
                  </a:cubicBezTo>
                  <a:cubicBezTo>
                    <a:pt x="10" y="44"/>
                    <a:pt x="0" y="34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321" y="0"/>
                    <a:pt x="321" y="0"/>
                    <a:pt x="321" y="0"/>
                  </a:cubicBezTo>
                  <a:cubicBezTo>
                    <a:pt x="334" y="0"/>
                    <a:pt x="344" y="10"/>
                    <a:pt x="344" y="22"/>
                  </a:cubicBezTo>
                  <a:cubicBezTo>
                    <a:pt x="344" y="34"/>
                    <a:pt x="334" y="44"/>
                    <a:pt x="321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76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2516370" y="4435326"/>
              <a:ext cx="136481" cy="105378"/>
            </a:xfrm>
            <a:custGeom>
              <a:avLst/>
              <a:gdLst>
                <a:gd name="T0" fmla="*/ 732 w 732"/>
                <a:gd name="T1" fmla="*/ 488 h 565"/>
                <a:gd name="T2" fmla="*/ 655 w 732"/>
                <a:gd name="T3" fmla="*/ 565 h 565"/>
                <a:gd name="T4" fmla="*/ 77 w 732"/>
                <a:gd name="T5" fmla="*/ 565 h 565"/>
                <a:gd name="T6" fmla="*/ 0 w 732"/>
                <a:gd name="T7" fmla="*/ 488 h 565"/>
                <a:gd name="T8" fmla="*/ 0 w 732"/>
                <a:gd name="T9" fmla="*/ 77 h 565"/>
                <a:gd name="T10" fmla="*/ 77 w 732"/>
                <a:gd name="T11" fmla="*/ 0 h 565"/>
                <a:gd name="T12" fmla="*/ 655 w 732"/>
                <a:gd name="T13" fmla="*/ 0 h 565"/>
                <a:gd name="T14" fmla="*/ 732 w 732"/>
                <a:gd name="T15" fmla="*/ 77 h 565"/>
                <a:gd name="T16" fmla="*/ 732 w 732"/>
                <a:gd name="T17" fmla="*/ 488 h 565"/>
                <a:gd name="T18" fmla="*/ 687 w 732"/>
                <a:gd name="T19" fmla="*/ 77 h 565"/>
                <a:gd name="T20" fmla="*/ 655 w 732"/>
                <a:gd name="T21" fmla="*/ 44 h 565"/>
                <a:gd name="T22" fmla="*/ 77 w 732"/>
                <a:gd name="T23" fmla="*/ 44 h 565"/>
                <a:gd name="T24" fmla="*/ 45 w 732"/>
                <a:gd name="T25" fmla="*/ 77 h 565"/>
                <a:gd name="T26" fmla="*/ 45 w 732"/>
                <a:gd name="T27" fmla="*/ 488 h 565"/>
                <a:gd name="T28" fmla="*/ 77 w 732"/>
                <a:gd name="T29" fmla="*/ 521 h 565"/>
                <a:gd name="T30" fmla="*/ 655 w 732"/>
                <a:gd name="T31" fmla="*/ 521 h 565"/>
                <a:gd name="T32" fmla="*/ 687 w 732"/>
                <a:gd name="T33" fmla="*/ 488 h 565"/>
                <a:gd name="T34" fmla="*/ 687 w 732"/>
                <a:gd name="T35" fmla="*/ 77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2" h="565">
                  <a:moveTo>
                    <a:pt x="732" y="488"/>
                  </a:moveTo>
                  <a:cubicBezTo>
                    <a:pt x="732" y="531"/>
                    <a:pt x="697" y="565"/>
                    <a:pt x="655" y="565"/>
                  </a:cubicBezTo>
                  <a:cubicBezTo>
                    <a:pt x="77" y="565"/>
                    <a:pt x="77" y="565"/>
                    <a:pt x="77" y="565"/>
                  </a:cubicBezTo>
                  <a:cubicBezTo>
                    <a:pt x="35" y="565"/>
                    <a:pt x="0" y="531"/>
                    <a:pt x="0" y="488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34"/>
                    <a:pt x="35" y="0"/>
                    <a:pt x="77" y="0"/>
                  </a:cubicBezTo>
                  <a:cubicBezTo>
                    <a:pt x="655" y="0"/>
                    <a:pt x="655" y="0"/>
                    <a:pt x="655" y="0"/>
                  </a:cubicBezTo>
                  <a:cubicBezTo>
                    <a:pt x="697" y="0"/>
                    <a:pt x="732" y="34"/>
                    <a:pt x="732" y="77"/>
                  </a:cubicBezTo>
                  <a:cubicBezTo>
                    <a:pt x="732" y="488"/>
                    <a:pt x="732" y="488"/>
                    <a:pt x="732" y="488"/>
                  </a:cubicBezTo>
                  <a:close/>
                  <a:moveTo>
                    <a:pt x="687" y="77"/>
                  </a:moveTo>
                  <a:cubicBezTo>
                    <a:pt x="687" y="59"/>
                    <a:pt x="673" y="44"/>
                    <a:pt x="655" y="44"/>
                  </a:cubicBezTo>
                  <a:cubicBezTo>
                    <a:pt x="77" y="44"/>
                    <a:pt x="77" y="44"/>
                    <a:pt x="77" y="44"/>
                  </a:cubicBezTo>
                  <a:cubicBezTo>
                    <a:pt x="59" y="44"/>
                    <a:pt x="45" y="59"/>
                    <a:pt x="45" y="77"/>
                  </a:cubicBezTo>
                  <a:cubicBezTo>
                    <a:pt x="45" y="488"/>
                    <a:pt x="45" y="488"/>
                    <a:pt x="45" y="488"/>
                  </a:cubicBezTo>
                  <a:cubicBezTo>
                    <a:pt x="45" y="506"/>
                    <a:pt x="59" y="521"/>
                    <a:pt x="77" y="521"/>
                  </a:cubicBezTo>
                  <a:cubicBezTo>
                    <a:pt x="655" y="521"/>
                    <a:pt x="655" y="521"/>
                    <a:pt x="655" y="521"/>
                  </a:cubicBezTo>
                  <a:cubicBezTo>
                    <a:pt x="673" y="521"/>
                    <a:pt x="687" y="506"/>
                    <a:pt x="687" y="488"/>
                  </a:cubicBezTo>
                  <a:lnTo>
                    <a:pt x="687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77"/>
            <p:cNvSpPr/>
            <p:nvPr>
              <p:custDataLst>
                <p:tags r:id="rId11"/>
              </p:custDataLst>
            </p:nvPr>
          </p:nvSpPr>
          <p:spPr bwMode="auto">
            <a:xfrm>
              <a:off x="2518799" y="4513830"/>
              <a:ext cx="132250" cy="4152"/>
            </a:xfrm>
            <a:custGeom>
              <a:avLst/>
              <a:gdLst>
                <a:gd name="T0" fmla="*/ 698 w 709"/>
                <a:gd name="T1" fmla="*/ 22 h 22"/>
                <a:gd name="T2" fmla="*/ 11 w 709"/>
                <a:gd name="T3" fmla="*/ 22 h 22"/>
                <a:gd name="T4" fmla="*/ 0 w 709"/>
                <a:gd name="T5" fmla="*/ 11 h 22"/>
                <a:gd name="T6" fmla="*/ 11 w 709"/>
                <a:gd name="T7" fmla="*/ 0 h 22"/>
                <a:gd name="T8" fmla="*/ 698 w 709"/>
                <a:gd name="T9" fmla="*/ 0 h 22"/>
                <a:gd name="T10" fmla="*/ 709 w 709"/>
                <a:gd name="T11" fmla="*/ 11 h 22"/>
                <a:gd name="T12" fmla="*/ 698 w 70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9" h="22">
                  <a:moveTo>
                    <a:pt x="698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04" y="0"/>
                    <a:pt x="709" y="5"/>
                    <a:pt x="709" y="11"/>
                  </a:cubicBezTo>
                  <a:cubicBezTo>
                    <a:pt x="709" y="17"/>
                    <a:pt x="704" y="22"/>
                    <a:pt x="69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78"/>
            <p:cNvSpPr/>
            <p:nvPr>
              <p:custDataLst>
                <p:tags r:id="rId12"/>
              </p:custDataLst>
            </p:nvPr>
          </p:nvSpPr>
          <p:spPr bwMode="auto">
            <a:xfrm>
              <a:off x="2518799" y="4453973"/>
              <a:ext cx="132250" cy="4152"/>
            </a:xfrm>
            <a:custGeom>
              <a:avLst/>
              <a:gdLst>
                <a:gd name="T0" fmla="*/ 698 w 709"/>
                <a:gd name="T1" fmla="*/ 22 h 22"/>
                <a:gd name="T2" fmla="*/ 11 w 709"/>
                <a:gd name="T3" fmla="*/ 22 h 22"/>
                <a:gd name="T4" fmla="*/ 0 w 709"/>
                <a:gd name="T5" fmla="*/ 11 h 22"/>
                <a:gd name="T6" fmla="*/ 11 w 709"/>
                <a:gd name="T7" fmla="*/ 0 h 22"/>
                <a:gd name="T8" fmla="*/ 698 w 709"/>
                <a:gd name="T9" fmla="*/ 0 h 22"/>
                <a:gd name="T10" fmla="*/ 709 w 709"/>
                <a:gd name="T11" fmla="*/ 11 h 22"/>
                <a:gd name="T12" fmla="*/ 698 w 70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9" h="22">
                  <a:moveTo>
                    <a:pt x="698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04" y="0"/>
                    <a:pt x="709" y="5"/>
                    <a:pt x="709" y="11"/>
                  </a:cubicBezTo>
                  <a:cubicBezTo>
                    <a:pt x="709" y="17"/>
                    <a:pt x="704" y="22"/>
                    <a:pt x="69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79"/>
            <p:cNvSpPr/>
            <p:nvPr>
              <p:custDataLst>
                <p:tags r:id="rId13"/>
              </p:custDataLst>
            </p:nvPr>
          </p:nvSpPr>
          <p:spPr bwMode="auto">
            <a:xfrm>
              <a:off x="2575130" y="4482335"/>
              <a:ext cx="5249" cy="5954"/>
            </a:xfrm>
            <a:custGeom>
              <a:avLst/>
              <a:gdLst>
                <a:gd name="T0" fmla="*/ 12 w 28"/>
                <a:gd name="T1" fmla="*/ 32 h 32"/>
                <a:gd name="T2" fmla="*/ 8 w 28"/>
                <a:gd name="T3" fmla="*/ 31 h 32"/>
                <a:gd name="T4" fmla="*/ 2 w 28"/>
                <a:gd name="T5" fmla="*/ 16 h 32"/>
                <a:gd name="T6" fmla="*/ 5 w 28"/>
                <a:gd name="T7" fmla="*/ 9 h 32"/>
                <a:gd name="T8" fmla="*/ 19 w 28"/>
                <a:gd name="T9" fmla="*/ 2 h 32"/>
                <a:gd name="T10" fmla="*/ 26 w 28"/>
                <a:gd name="T11" fmla="*/ 17 h 32"/>
                <a:gd name="T12" fmla="*/ 23 w 28"/>
                <a:gd name="T13" fmla="*/ 24 h 32"/>
                <a:gd name="T14" fmla="*/ 12 w 28"/>
                <a:gd name="T1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2">
                  <a:moveTo>
                    <a:pt x="12" y="32"/>
                  </a:moveTo>
                  <a:cubicBezTo>
                    <a:pt x="11" y="32"/>
                    <a:pt x="10" y="31"/>
                    <a:pt x="8" y="31"/>
                  </a:cubicBezTo>
                  <a:cubicBezTo>
                    <a:pt x="3" y="29"/>
                    <a:pt x="0" y="22"/>
                    <a:pt x="2" y="16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7" y="3"/>
                    <a:pt x="14" y="0"/>
                    <a:pt x="19" y="2"/>
                  </a:cubicBezTo>
                  <a:cubicBezTo>
                    <a:pt x="25" y="5"/>
                    <a:pt x="28" y="11"/>
                    <a:pt x="26" y="17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1" y="29"/>
                    <a:pt x="17" y="32"/>
                    <a:pt x="12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80"/>
            <p:cNvSpPr/>
            <p:nvPr>
              <p:custDataLst>
                <p:tags r:id="rId14"/>
              </p:custDataLst>
            </p:nvPr>
          </p:nvSpPr>
          <p:spPr bwMode="auto">
            <a:xfrm>
              <a:off x="2567139" y="4489073"/>
              <a:ext cx="10577" cy="19352"/>
            </a:xfrm>
            <a:custGeom>
              <a:avLst/>
              <a:gdLst>
                <a:gd name="T0" fmla="*/ 13 w 57"/>
                <a:gd name="T1" fmla="*/ 104 h 104"/>
                <a:gd name="T2" fmla="*/ 9 w 57"/>
                <a:gd name="T3" fmla="*/ 103 h 104"/>
                <a:gd name="T4" fmla="*/ 3 w 57"/>
                <a:gd name="T5" fmla="*/ 89 h 104"/>
                <a:gd name="T6" fmla="*/ 34 w 57"/>
                <a:gd name="T7" fmla="*/ 8 h 104"/>
                <a:gd name="T8" fmla="*/ 48 w 57"/>
                <a:gd name="T9" fmla="*/ 2 h 104"/>
                <a:gd name="T10" fmla="*/ 55 w 57"/>
                <a:gd name="T11" fmla="*/ 16 h 104"/>
                <a:gd name="T12" fmla="*/ 23 w 57"/>
                <a:gd name="T13" fmla="*/ 97 h 104"/>
                <a:gd name="T14" fmla="*/ 13 w 57"/>
                <a:gd name="T15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04">
                  <a:moveTo>
                    <a:pt x="13" y="104"/>
                  </a:moveTo>
                  <a:cubicBezTo>
                    <a:pt x="12" y="104"/>
                    <a:pt x="10" y="104"/>
                    <a:pt x="9" y="103"/>
                  </a:cubicBezTo>
                  <a:cubicBezTo>
                    <a:pt x="3" y="101"/>
                    <a:pt x="0" y="95"/>
                    <a:pt x="3" y="89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6" y="3"/>
                    <a:pt x="43" y="0"/>
                    <a:pt x="48" y="2"/>
                  </a:cubicBezTo>
                  <a:cubicBezTo>
                    <a:pt x="54" y="4"/>
                    <a:pt x="57" y="11"/>
                    <a:pt x="55" y="16"/>
                  </a:cubicBezTo>
                  <a:cubicBezTo>
                    <a:pt x="23" y="97"/>
                    <a:pt x="23" y="97"/>
                    <a:pt x="23" y="97"/>
                  </a:cubicBezTo>
                  <a:cubicBezTo>
                    <a:pt x="22" y="101"/>
                    <a:pt x="17" y="104"/>
                    <a:pt x="13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Freeform 81"/>
            <p:cNvSpPr/>
            <p:nvPr>
              <p:custDataLst>
                <p:tags r:id="rId15"/>
              </p:custDataLst>
            </p:nvPr>
          </p:nvSpPr>
          <p:spPr bwMode="auto">
            <a:xfrm>
              <a:off x="2558913" y="4467997"/>
              <a:ext cx="13241" cy="26482"/>
            </a:xfrm>
            <a:custGeom>
              <a:avLst/>
              <a:gdLst>
                <a:gd name="T0" fmla="*/ 12 w 71"/>
                <a:gd name="T1" fmla="*/ 142 h 142"/>
                <a:gd name="T2" fmla="*/ 8 w 71"/>
                <a:gd name="T3" fmla="*/ 141 h 142"/>
                <a:gd name="T4" fmla="*/ 2 w 71"/>
                <a:gd name="T5" fmla="*/ 127 h 142"/>
                <a:gd name="T6" fmla="*/ 48 w 71"/>
                <a:gd name="T7" fmla="*/ 9 h 142"/>
                <a:gd name="T8" fmla="*/ 62 w 71"/>
                <a:gd name="T9" fmla="*/ 2 h 142"/>
                <a:gd name="T10" fmla="*/ 68 w 71"/>
                <a:gd name="T11" fmla="*/ 17 h 142"/>
                <a:gd name="T12" fmla="*/ 22 w 71"/>
                <a:gd name="T13" fmla="*/ 135 h 142"/>
                <a:gd name="T14" fmla="*/ 12 w 71"/>
                <a:gd name="T15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142">
                  <a:moveTo>
                    <a:pt x="12" y="142"/>
                  </a:moveTo>
                  <a:cubicBezTo>
                    <a:pt x="11" y="142"/>
                    <a:pt x="9" y="141"/>
                    <a:pt x="8" y="141"/>
                  </a:cubicBezTo>
                  <a:cubicBezTo>
                    <a:pt x="2" y="139"/>
                    <a:pt x="0" y="132"/>
                    <a:pt x="2" y="127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0" y="3"/>
                    <a:pt x="56" y="0"/>
                    <a:pt x="62" y="2"/>
                  </a:cubicBezTo>
                  <a:cubicBezTo>
                    <a:pt x="68" y="4"/>
                    <a:pt x="71" y="11"/>
                    <a:pt x="68" y="17"/>
                  </a:cubicBezTo>
                  <a:cubicBezTo>
                    <a:pt x="22" y="135"/>
                    <a:pt x="22" y="135"/>
                    <a:pt x="22" y="135"/>
                  </a:cubicBezTo>
                  <a:cubicBezTo>
                    <a:pt x="21" y="139"/>
                    <a:pt x="17" y="142"/>
                    <a:pt x="12" y="1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Freeform 82"/>
            <p:cNvSpPr/>
            <p:nvPr>
              <p:custDataLst>
                <p:tags r:id="rId16"/>
              </p:custDataLst>
            </p:nvPr>
          </p:nvSpPr>
          <p:spPr bwMode="auto">
            <a:xfrm>
              <a:off x="2554839" y="4497064"/>
              <a:ext cx="5954" cy="7678"/>
            </a:xfrm>
            <a:custGeom>
              <a:avLst/>
              <a:gdLst>
                <a:gd name="T0" fmla="*/ 13 w 32"/>
                <a:gd name="T1" fmla="*/ 41 h 41"/>
                <a:gd name="T2" fmla="*/ 9 w 32"/>
                <a:gd name="T3" fmla="*/ 40 h 41"/>
                <a:gd name="T4" fmla="*/ 2 w 32"/>
                <a:gd name="T5" fmla="*/ 26 h 41"/>
                <a:gd name="T6" fmla="*/ 9 w 32"/>
                <a:gd name="T7" fmla="*/ 9 h 41"/>
                <a:gd name="T8" fmla="*/ 23 w 32"/>
                <a:gd name="T9" fmla="*/ 2 h 41"/>
                <a:gd name="T10" fmla="*/ 30 w 32"/>
                <a:gd name="T11" fmla="*/ 17 h 41"/>
                <a:gd name="T12" fmla="*/ 23 w 32"/>
                <a:gd name="T13" fmla="*/ 34 h 41"/>
                <a:gd name="T14" fmla="*/ 13 w 32"/>
                <a:gd name="T1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13" y="41"/>
                  </a:moveTo>
                  <a:cubicBezTo>
                    <a:pt x="11" y="41"/>
                    <a:pt x="10" y="41"/>
                    <a:pt x="9" y="40"/>
                  </a:cubicBezTo>
                  <a:cubicBezTo>
                    <a:pt x="3" y="38"/>
                    <a:pt x="0" y="32"/>
                    <a:pt x="2" y="26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1" y="3"/>
                    <a:pt x="18" y="0"/>
                    <a:pt x="23" y="2"/>
                  </a:cubicBezTo>
                  <a:cubicBezTo>
                    <a:pt x="29" y="4"/>
                    <a:pt x="32" y="11"/>
                    <a:pt x="30" y="17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1" y="38"/>
                    <a:pt x="17" y="41"/>
                    <a:pt x="13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-2147482579"/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6845" y="1556385"/>
            <a:ext cx="3735705" cy="24815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8160" y="883285"/>
            <a:ext cx="7056120" cy="382714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 rot="5400000">
            <a:off x="8782172" y="372975"/>
            <a:ext cx="145928" cy="145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 rot="5400000">
            <a:off x="8533535" y="372975"/>
            <a:ext cx="145928" cy="145928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695825" y="2187575"/>
            <a:ext cx="4232275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 w="19050"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  <a:sym typeface="思源黑体 CN Normal"/>
              </a:rPr>
              <a:t>团队组织与协作</a:t>
            </a:r>
            <a:endParaRPr kumimoji="0" lang="zh-CN" altLang="en-US" sz="4400" b="0" i="0" u="none" strike="noStrike" kern="1200" cap="none" spc="0" normalizeH="0" baseline="0" noProof="0" dirty="0">
              <a:ln w="19050"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时尚中黑简体" panose="01010104010101010101" pitchFamily="2" charset="-122"/>
              <a:ea typeface="时尚中黑简体" panose="01010104010101010101" pitchFamily="2" charset="-122"/>
              <a:cs typeface="+mn-cs"/>
              <a:sym typeface="思源黑体 CN Normal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333422" y="3519160"/>
            <a:ext cx="273256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/>
          <p:cNvSpPr/>
          <p:nvPr/>
        </p:nvSpPr>
        <p:spPr>
          <a:xfrm>
            <a:off x="5305676" y="3741799"/>
            <a:ext cx="1282185" cy="299382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</a:rPr>
              <a:t>第二单元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时尚中黑简体" panose="01010104010101010101" pitchFamily="2" charset="-122"/>
              <a:ea typeface="时尚中黑简体" panose="0101010401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8600" y="372745"/>
            <a:ext cx="309753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组织结构与人员分工</a:t>
            </a:r>
            <a:endParaRPr lang="zh-CN" altLang="en-US" sz="2400" dirty="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 rot="5400000">
            <a:off x="8782172" y="372975"/>
            <a:ext cx="145928" cy="145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 rot="5400000">
            <a:off x="8533535" y="372975"/>
            <a:ext cx="145928" cy="145928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-2147482616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570" y="1426845"/>
            <a:ext cx="5037455" cy="25158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1130" y="1274445"/>
            <a:ext cx="3775075" cy="29864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880110"/>
            <a:ext cx="3855085" cy="41141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835" y="2332355"/>
            <a:ext cx="4684395" cy="121094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0845" y="316406"/>
            <a:ext cx="2358543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内部协作机制</a:t>
            </a:r>
            <a:endParaRPr lang="zh-CN" altLang="en-US" sz="2400" dirty="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 rot="5400000">
            <a:off x="8782172" y="372975"/>
            <a:ext cx="145928" cy="145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 rot="5400000">
            <a:off x="8533535" y="372975"/>
            <a:ext cx="145928" cy="145928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826000"/>
            <a:ext cx="9144000" cy="317500"/>
          </a:xfrm>
          <a:prstGeom prst="rect">
            <a:avLst/>
          </a:prstGeom>
          <a:solidFill>
            <a:srgbClr val="5C5C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90" y="1419860"/>
            <a:ext cx="3515360" cy="26955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620" y="2127250"/>
            <a:ext cx="2985770" cy="19424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374140"/>
            <a:ext cx="631825" cy="69469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115" y="1306830"/>
            <a:ext cx="1409700" cy="762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 rot="5400000">
            <a:off x="8782172" y="372975"/>
            <a:ext cx="145928" cy="145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 rot="5400000">
            <a:off x="8533535" y="372975"/>
            <a:ext cx="145928" cy="145928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779645" y="2326640"/>
            <a:ext cx="47523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 w="19050"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  <a:sym typeface="思源黑体 CN Normal"/>
              </a:rPr>
              <a:t>项目实施与管控</a:t>
            </a:r>
            <a:endParaRPr kumimoji="0" lang="zh-CN" altLang="en-US" sz="4400" b="0" i="0" u="none" strike="noStrike" kern="1200" cap="none" spc="0" normalizeH="0" baseline="0" noProof="0" dirty="0">
              <a:ln w="19050"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时尚中黑简体" panose="01010104010101010101" pitchFamily="2" charset="-122"/>
              <a:ea typeface="时尚中黑简体" panose="01010104010101010101" pitchFamily="2" charset="-122"/>
              <a:cs typeface="+mn-cs"/>
              <a:sym typeface="思源黑体 CN Normal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333422" y="3519160"/>
            <a:ext cx="273256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/>
          <p:cNvSpPr/>
          <p:nvPr/>
        </p:nvSpPr>
        <p:spPr>
          <a:xfrm>
            <a:off x="5305676" y="3741799"/>
            <a:ext cx="1282185" cy="299382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</a:rPr>
              <a:t>第三单元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时尚中黑简体" panose="01010104010101010101" pitchFamily="2" charset="-122"/>
              <a:ea typeface="时尚中黑简体" panose="0101010401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4800" y="372921"/>
            <a:ext cx="2358543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风险评估与应对</a:t>
            </a:r>
            <a:endParaRPr lang="zh-CN" altLang="en-US" sz="2400" dirty="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 rot="5400000">
            <a:off x="8782172" y="372975"/>
            <a:ext cx="145928" cy="145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 rot="5400000">
            <a:off x="8533535" y="372975"/>
            <a:ext cx="145928" cy="145928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4800" y="833120"/>
            <a:ext cx="8537575" cy="575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defTabSz="457200">
              <a:lnSpc>
                <a:spcPct val="150000"/>
              </a:lnSpc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结合校务问答机器人项目的技术特性、开发流程及校务场景适配要求，对项目全生命周期的潜在风险进行识别、评估，并制定针对性应对对策，风险等级按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 </a:t>
            </a: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低</a:t>
            </a:r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 (1)/ </a:t>
            </a: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中</a:t>
            </a:r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 (2)/ </a:t>
            </a: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高</a:t>
            </a:r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 (3) 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划分，具体如下：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403938" y="1500470"/>
            <a:ext cx="8473440" cy="0"/>
          </a:xfrm>
          <a:prstGeom prst="line">
            <a:avLst/>
          </a:prstGeom>
          <a:noFill/>
          <a:ln w="6350" cap="flat" cmpd="sng" algn="ctr">
            <a:solidFill>
              <a:srgbClr val="5C5C5C"/>
            </a:solidFill>
            <a:prstDash val="solid"/>
            <a:miter lim="800000"/>
          </a:ln>
          <a:effectLst/>
        </p:spPr>
      </p:cxnSp>
      <p:sp>
        <p:nvSpPr>
          <p:cNvPr id="23" name="矩形 22"/>
          <p:cNvSpPr/>
          <p:nvPr/>
        </p:nvSpPr>
        <p:spPr>
          <a:xfrm>
            <a:off x="0" y="4826000"/>
            <a:ext cx="9144000" cy="317500"/>
          </a:xfrm>
          <a:prstGeom prst="rect">
            <a:avLst/>
          </a:prstGeom>
          <a:solidFill>
            <a:srgbClr val="5C5C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860" y="1692910"/>
            <a:ext cx="3178175" cy="294068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24170" y="1699895"/>
            <a:ext cx="3418205" cy="2976245"/>
          </a:xfrm>
          <a:prstGeom prst="rect">
            <a:avLst/>
          </a:prstGeom>
        </p:spPr>
      </p:pic>
      <p:sp>
        <p:nvSpPr>
          <p:cNvPr id="37" name="Oval 12"/>
          <p:cNvSpPr>
            <a:spLocks noChangeArrowheads="1"/>
          </p:cNvSpPr>
          <p:nvPr/>
        </p:nvSpPr>
        <p:spPr bwMode="auto">
          <a:xfrm>
            <a:off x="4087067" y="1906754"/>
            <a:ext cx="854580" cy="856236"/>
          </a:xfrm>
          <a:prstGeom prst="ellipse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Group 52" descr="e7d195523061f1c09e9d68d7cf438b91ef959ecb14fc25d26BBA7F7DBC18E55DFF4014AF651F0BF2569D4B6C1DA7F1A4683A481403BD872FC687266AD13265C1DE7C373772FD8728ABDD69ADD03BFF5BE2862BC891DBB79E58D088E34357A3F345A9534864FDC11340AE3B71A34A7A1F7BD2127AAE3642502E0D4AD8564642CBC6FC46C984D10741322C9CACD20D41DC"/>
          <p:cNvGrpSpPr>
            <a:grpSpLocks noChangeAspect="1"/>
          </p:cNvGrpSpPr>
          <p:nvPr/>
        </p:nvGrpSpPr>
        <p:grpSpPr>
          <a:xfrm>
            <a:off x="4337614" y="2155838"/>
            <a:ext cx="361988" cy="358069"/>
            <a:chOff x="2048" y="797"/>
            <a:chExt cx="1662" cy="1644"/>
          </a:xfrm>
          <a:solidFill>
            <a:schemeClr val="bg1"/>
          </a:solidFill>
        </p:grpSpPr>
        <p:sp>
          <p:nvSpPr>
            <p:cNvPr id="39" name="Freeform 53"/>
            <p:cNvSpPr>
              <a:spLocks noEditPoints="1"/>
            </p:cNvSpPr>
            <p:nvPr/>
          </p:nvSpPr>
          <p:spPr bwMode="auto">
            <a:xfrm>
              <a:off x="2048" y="797"/>
              <a:ext cx="1257" cy="1256"/>
            </a:xfrm>
            <a:custGeom>
              <a:avLst/>
              <a:gdLst>
                <a:gd name="T0" fmla="*/ 264 w 528"/>
                <a:gd name="T1" fmla="*/ 528 h 528"/>
                <a:gd name="T2" fmla="*/ 0 w 528"/>
                <a:gd name="T3" fmla="*/ 264 h 528"/>
                <a:gd name="T4" fmla="*/ 264 w 528"/>
                <a:gd name="T5" fmla="*/ 0 h 528"/>
                <a:gd name="T6" fmla="*/ 528 w 528"/>
                <a:gd name="T7" fmla="*/ 264 h 528"/>
                <a:gd name="T8" fmla="*/ 264 w 528"/>
                <a:gd name="T9" fmla="*/ 528 h 528"/>
                <a:gd name="T10" fmla="*/ 264 w 528"/>
                <a:gd name="T11" fmla="*/ 43 h 528"/>
                <a:gd name="T12" fmla="*/ 43 w 528"/>
                <a:gd name="T13" fmla="*/ 264 h 528"/>
                <a:gd name="T14" fmla="*/ 264 w 528"/>
                <a:gd name="T15" fmla="*/ 485 h 528"/>
                <a:gd name="T16" fmla="*/ 485 w 528"/>
                <a:gd name="T17" fmla="*/ 264 h 528"/>
                <a:gd name="T18" fmla="*/ 264 w 528"/>
                <a:gd name="T19" fmla="*/ 43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8" h="528">
                  <a:moveTo>
                    <a:pt x="264" y="528"/>
                  </a:moveTo>
                  <a:cubicBezTo>
                    <a:pt x="118" y="528"/>
                    <a:pt x="0" y="410"/>
                    <a:pt x="0" y="264"/>
                  </a:cubicBezTo>
                  <a:cubicBezTo>
                    <a:pt x="0" y="118"/>
                    <a:pt x="118" y="0"/>
                    <a:pt x="264" y="0"/>
                  </a:cubicBezTo>
                  <a:cubicBezTo>
                    <a:pt x="410" y="0"/>
                    <a:pt x="528" y="118"/>
                    <a:pt x="528" y="264"/>
                  </a:cubicBezTo>
                  <a:cubicBezTo>
                    <a:pt x="528" y="410"/>
                    <a:pt x="410" y="528"/>
                    <a:pt x="264" y="528"/>
                  </a:cubicBezTo>
                  <a:close/>
                  <a:moveTo>
                    <a:pt x="264" y="43"/>
                  </a:moveTo>
                  <a:cubicBezTo>
                    <a:pt x="142" y="43"/>
                    <a:pt x="43" y="142"/>
                    <a:pt x="43" y="264"/>
                  </a:cubicBezTo>
                  <a:cubicBezTo>
                    <a:pt x="43" y="386"/>
                    <a:pt x="142" y="485"/>
                    <a:pt x="264" y="485"/>
                  </a:cubicBezTo>
                  <a:cubicBezTo>
                    <a:pt x="386" y="485"/>
                    <a:pt x="485" y="386"/>
                    <a:pt x="485" y="264"/>
                  </a:cubicBezTo>
                  <a:cubicBezTo>
                    <a:pt x="485" y="142"/>
                    <a:pt x="386" y="43"/>
                    <a:pt x="264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Freeform 54"/>
            <p:cNvSpPr/>
            <p:nvPr/>
          </p:nvSpPr>
          <p:spPr bwMode="auto">
            <a:xfrm>
              <a:off x="2277" y="968"/>
              <a:ext cx="426" cy="262"/>
            </a:xfrm>
            <a:custGeom>
              <a:avLst/>
              <a:gdLst>
                <a:gd name="T0" fmla="*/ 12 w 179"/>
                <a:gd name="T1" fmla="*/ 110 h 110"/>
                <a:gd name="T2" fmla="*/ 6 w 179"/>
                <a:gd name="T3" fmla="*/ 109 h 110"/>
                <a:gd name="T4" fmla="*/ 3 w 179"/>
                <a:gd name="T5" fmla="*/ 94 h 110"/>
                <a:gd name="T6" fmla="*/ 168 w 179"/>
                <a:gd name="T7" fmla="*/ 0 h 110"/>
                <a:gd name="T8" fmla="*/ 179 w 179"/>
                <a:gd name="T9" fmla="*/ 11 h 110"/>
                <a:gd name="T10" fmla="*/ 168 w 179"/>
                <a:gd name="T11" fmla="*/ 21 h 110"/>
                <a:gd name="T12" fmla="*/ 21 w 179"/>
                <a:gd name="T13" fmla="*/ 105 h 110"/>
                <a:gd name="T14" fmla="*/ 12 w 179"/>
                <a:gd name="T15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9" h="110">
                  <a:moveTo>
                    <a:pt x="12" y="110"/>
                  </a:moveTo>
                  <a:cubicBezTo>
                    <a:pt x="10" y="110"/>
                    <a:pt x="8" y="110"/>
                    <a:pt x="6" y="109"/>
                  </a:cubicBezTo>
                  <a:cubicBezTo>
                    <a:pt x="1" y="106"/>
                    <a:pt x="0" y="99"/>
                    <a:pt x="3" y="94"/>
                  </a:cubicBezTo>
                  <a:cubicBezTo>
                    <a:pt x="37" y="36"/>
                    <a:pt x="101" y="0"/>
                    <a:pt x="168" y="0"/>
                  </a:cubicBezTo>
                  <a:cubicBezTo>
                    <a:pt x="174" y="0"/>
                    <a:pt x="179" y="5"/>
                    <a:pt x="179" y="11"/>
                  </a:cubicBezTo>
                  <a:cubicBezTo>
                    <a:pt x="179" y="16"/>
                    <a:pt x="174" y="21"/>
                    <a:pt x="168" y="21"/>
                  </a:cubicBezTo>
                  <a:cubicBezTo>
                    <a:pt x="108" y="21"/>
                    <a:pt x="52" y="53"/>
                    <a:pt x="21" y="105"/>
                  </a:cubicBezTo>
                  <a:cubicBezTo>
                    <a:pt x="19" y="108"/>
                    <a:pt x="16" y="110"/>
                    <a:pt x="12" y="1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55"/>
            <p:cNvSpPr/>
            <p:nvPr/>
          </p:nvSpPr>
          <p:spPr bwMode="auto">
            <a:xfrm>
              <a:off x="2219" y="1299"/>
              <a:ext cx="65" cy="136"/>
            </a:xfrm>
            <a:custGeom>
              <a:avLst/>
              <a:gdLst>
                <a:gd name="T0" fmla="*/ 11 w 27"/>
                <a:gd name="T1" fmla="*/ 57 h 57"/>
                <a:gd name="T2" fmla="*/ 0 w 27"/>
                <a:gd name="T3" fmla="*/ 47 h 57"/>
                <a:gd name="T4" fmla="*/ 5 w 27"/>
                <a:gd name="T5" fmla="*/ 9 h 57"/>
                <a:gd name="T6" fmla="*/ 18 w 27"/>
                <a:gd name="T7" fmla="*/ 1 h 57"/>
                <a:gd name="T8" fmla="*/ 26 w 27"/>
                <a:gd name="T9" fmla="*/ 14 h 57"/>
                <a:gd name="T10" fmla="*/ 21 w 27"/>
                <a:gd name="T11" fmla="*/ 47 h 57"/>
                <a:gd name="T12" fmla="*/ 11 w 27"/>
                <a:gd name="T13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57">
                  <a:moveTo>
                    <a:pt x="11" y="57"/>
                  </a:moveTo>
                  <a:cubicBezTo>
                    <a:pt x="5" y="57"/>
                    <a:pt x="0" y="53"/>
                    <a:pt x="0" y="47"/>
                  </a:cubicBezTo>
                  <a:cubicBezTo>
                    <a:pt x="0" y="31"/>
                    <a:pt x="2" y="23"/>
                    <a:pt x="5" y="9"/>
                  </a:cubicBezTo>
                  <a:cubicBezTo>
                    <a:pt x="6" y="3"/>
                    <a:pt x="12" y="0"/>
                    <a:pt x="18" y="1"/>
                  </a:cubicBezTo>
                  <a:cubicBezTo>
                    <a:pt x="24" y="2"/>
                    <a:pt x="27" y="8"/>
                    <a:pt x="26" y="14"/>
                  </a:cubicBezTo>
                  <a:cubicBezTo>
                    <a:pt x="23" y="27"/>
                    <a:pt x="21" y="34"/>
                    <a:pt x="21" y="47"/>
                  </a:cubicBezTo>
                  <a:cubicBezTo>
                    <a:pt x="21" y="53"/>
                    <a:pt x="17" y="57"/>
                    <a:pt x="11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Freeform 56"/>
            <p:cNvSpPr>
              <a:spLocks noEditPoints="1"/>
            </p:cNvSpPr>
            <p:nvPr/>
          </p:nvSpPr>
          <p:spPr bwMode="auto">
            <a:xfrm>
              <a:off x="2988" y="1727"/>
              <a:ext cx="722" cy="714"/>
            </a:xfrm>
            <a:custGeom>
              <a:avLst/>
              <a:gdLst>
                <a:gd name="T0" fmla="*/ 238 w 303"/>
                <a:gd name="T1" fmla="*/ 300 h 300"/>
                <a:gd name="T2" fmla="*/ 192 w 303"/>
                <a:gd name="T3" fmla="*/ 281 h 300"/>
                <a:gd name="T4" fmla="*/ 18 w 303"/>
                <a:gd name="T5" fmla="*/ 107 h 300"/>
                <a:gd name="T6" fmla="*/ 6 w 303"/>
                <a:gd name="T7" fmla="*/ 60 h 300"/>
                <a:gd name="T8" fmla="*/ 29 w 303"/>
                <a:gd name="T9" fmla="*/ 26 h 300"/>
                <a:gd name="T10" fmla="*/ 77 w 303"/>
                <a:gd name="T11" fmla="*/ 0 h 300"/>
                <a:gd name="T12" fmla="*/ 110 w 303"/>
                <a:gd name="T13" fmla="*/ 15 h 300"/>
                <a:gd name="T14" fmla="*/ 284 w 303"/>
                <a:gd name="T15" fmla="*/ 189 h 300"/>
                <a:gd name="T16" fmla="*/ 303 w 303"/>
                <a:gd name="T17" fmla="*/ 235 h 300"/>
                <a:gd name="T18" fmla="*/ 284 w 303"/>
                <a:gd name="T19" fmla="*/ 281 h 300"/>
                <a:gd name="T20" fmla="*/ 238 w 303"/>
                <a:gd name="T21" fmla="*/ 300 h 300"/>
                <a:gd name="T22" fmla="*/ 47 w 303"/>
                <a:gd name="T23" fmla="*/ 74 h 300"/>
                <a:gd name="T24" fmla="*/ 49 w 303"/>
                <a:gd name="T25" fmla="*/ 76 h 300"/>
                <a:gd name="T26" fmla="*/ 223 w 303"/>
                <a:gd name="T27" fmla="*/ 250 h 300"/>
                <a:gd name="T28" fmla="*/ 253 w 303"/>
                <a:gd name="T29" fmla="*/ 250 h 300"/>
                <a:gd name="T30" fmla="*/ 260 w 303"/>
                <a:gd name="T31" fmla="*/ 235 h 300"/>
                <a:gd name="T32" fmla="*/ 253 w 303"/>
                <a:gd name="T33" fmla="*/ 220 h 300"/>
                <a:gd name="T34" fmla="*/ 79 w 303"/>
                <a:gd name="T35" fmla="*/ 46 h 300"/>
                <a:gd name="T36" fmla="*/ 77 w 303"/>
                <a:gd name="T37" fmla="*/ 44 h 300"/>
                <a:gd name="T38" fmla="*/ 60 w 303"/>
                <a:gd name="T39" fmla="*/ 56 h 300"/>
                <a:gd name="T40" fmla="*/ 47 w 303"/>
                <a:gd name="T41" fmla="*/ 74 h 300"/>
                <a:gd name="T42" fmla="*/ 47 w 303"/>
                <a:gd name="T43" fmla="*/ 74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3" h="300">
                  <a:moveTo>
                    <a:pt x="238" y="300"/>
                  </a:moveTo>
                  <a:cubicBezTo>
                    <a:pt x="221" y="300"/>
                    <a:pt x="205" y="293"/>
                    <a:pt x="192" y="281"/>
                  </a:cubicBezTo>
                  <a:cubicBezTo>
                    <a:pt x="18" y="107"/>
                    <a:pt x="18" y="107"/>
                    <a:pt x="18" y="107"/>
                  </a:cubicBezTo>
                  <a:cubicBezTo>
                    <a:pt x="5" y="93"/>
                    <a:pt x="0" y="77"/>
                    <a:pt x="6" y="60"/>
                  </a:cubicBezTo>
                  <a:cubicBezTo>
                    <a:pt x="10" y="46"/>
                    <a:pt x="21" y="34"/>
                    <a:pt x="29" y="26"/>
                  </a:cubicBezTo>
                  <a:cubicBezTo>
                    <a:pt x="42" y="13"/>
                    <a:pt x="57" y="0"/>
                    <a:pt x="77" y="0"/>
                  </a:cubicBezTo>
                  <a:cubicBezTo>
                    <a:pt x="85" y="0"/>
                    <a:pt x="98" y="3"/>
                    <a:pt x="110" y="15"/>
                  </a:cubicBezTo>
                  <a:cubicBezTo>
                    <a:pt x="284" y="189"/>
                    <a:pt x="284" y="189"/>
                    <a:pt x="284" y="189"/>
                  </a:cubicBezTo>
                  <a:cubicBezTo>
                    <a:pt x="296" y="201"/>
                    <a:pt x="303" y="218"/>
                    <a:pt x="303" y="235"/>
                  </a:cubicBezTo>
                  <a:cubicBezTo>
                    <a:pt x="303" y="252"/>
                    <a:pt x="296" y="269"/>
                    <a:pt x="284" y="281"/>
                  </a:cubicBezTo>
                  <a:cubicBezTo>
                    <a:pt x="272" y="293"/>
                    <a:pt x="255" y="300"/>
                    <a:pt x="238" y="300"/>
                  </a:cubicBezTo>
                  <a:close/>
                  <a:moveTo>
                    <a:pt x="47" y="74"/>
                  </a:moveTo>
                  <a:cubicBezTo>
                    <a:pt x="47" y="74"/>
                    <a:pt x="47" y="75"/>
                    <a:pt x="49" y="76"/>
                  </a:cubicBezTo>
                  <a:cubicBezTo>
                    <a:pt x="223" y="250"/>
                    <a:pt x="223" y="250"/>
                    <a:pt x="223" y="250"/>
                  </a:cubicBezTo>
                  <a:cubicBezTo>
                    <a:pt x="231" y="258"/>
                    <a:pt x="245" y="258"/>
                    <a:pt x="253" y="250"/>
                  </a:cubicBezTo>
                  <a:cubicBezTo>
                    <a:pt x="257" y="246"/>
                    <a:pt x="260" y="241"/>
                    <a:pt x="260" y="235"/>
                  </a:cubicBezTo>
                  <a:cubicBezTo>
                    <a:pt x="260" y="229"/>
                    <a:pt x="257" y="224"/>
                    <a:pt x="253" y="220"/>
                  </a:cubicBezTo>
                  <a:cubicBezTo>
                    <a:pt x="79" y="46"/>
                    <a:pt x="79" y="46"/>
                    <a:pt x="79" y="46"/>
                  </a:cubicBezTo>
                  <a:cubicBezTo>
                    <a:pt x="78" y="44"/>
                    <a:pt x="77" y="44"/>
                    <a:pt x="77" y="44"/>
                  </a:cubicBezTo>
                  <a:cubicBezTo>
                    <a:pt x="76" y="44"/>
                    <a:pt x="72" y="44"/>
                    <a:pt x="60" y="56"/>
                  </a:cubicBezTo>
                  <a:cubicBezTo>
                    <a:pt x="47" y="69"/>
                    <a:pt x="47" y="73"/>
                    <a:pt x="47" y="74"/>
                  </a:cubicBezTo>
                  <a:cubicBezTo>
                    <a:pt x="47" y="74"/>
                    <a:pt x="47" y="74"/>
                    <a:pt x="47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" name="Oval 18"/>
          <p:cNvSpPr>
            <a:spLocks noChangeArrowheads="1"/>
          </p:cNvSpPr>
          <p:nvPr/>
        </p:nvSpPr>
        <p:spPr bwMode="auto">
          <a:xfrm>
            <a:off x="4087055" y="3473992"/>
            <a:ext cx="855973" cy="854844"/>
          </a:xfrm>
          <a:prstGeom prst="ellipse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343819" y="3738054"/>
            <a:ext cx="342445" cy="326720"/>
            <a:chOff x="2516370" y="4435326"/>
            <a:chExt cx="136481" cy="130214"/>
          </a:xfrm>
        </p:grpSpPr>
        <p:sp>
          <p:nvSpPr>
            <p:cNvPr id="45" name="Freeform 75"/>
            <p:cNvSpPr/>
            <p:nvPr/>
          </p:nvSpPr>
          <p:spPr bwMode="auto">
            <a:xfrm>
              <a:off x="2553898" y="4557313"/>
              <a:ext cx="64088" cy="8227"/>
            </a:xfrm>
            <a:custGeom>
              <a:avLst/>
              <a:gdLst>
                <a:gd name="T0" fmla="*/ 321 w 344"/>
                <a:gd name="T1" fmla="*/ 44 h 44"/>
                <a:gd name="T2" fmla="*/ 22 w 344"/>
                <a:gd name="T3" fmla="*/ 44 h 44"/>
                <a:gd name="T4" fmla="*/ 0 w 344"/>
                <a:gd name="T5" fmla="*/ 22 h 44"/>
                <a:gd name="T6" fmla="*/ 22 w 344"/>
                <a:gd name="T7" fmla="*/ 0 h 44"/>
                <a:gd name="T8" fmla="*/ 321 w 344"/>
                <a:gd name="T9" fmla="*/ 0 h 44"/>
                <a:gd name="T10" fmla="*/ 344 w 344"/>
                <a:gd name="T11" fmla="*/ 22 h 44"/>
                <a:gd name="T12" fmla="*/ 321 w 344"/>
                <a:gd name="T13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4" h="44">
                  <a:moveTo>
                    <a:pt x="321" y="44"/>
                  </a:moveTo>
                  <a:cubicBezTo>
                    <a:pt x="22" y="44"/>
                    <a:pt x="22" y="44"/>
                    <a:pt x="22" y="44"/>
                  </a:cubicBezTo>
                  <a:cubicBezTo>
                    <a:pt x="10" y="44"/>
                    <a:pt x="0" y="34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321" y="0"/>
                    <a:pt x="321" y="0"/>
                    <a:pt x="321" y="0"/>
                  </a:cubicBezTo>
                  <a:cubicBezTo>
                    <a:pt x="334" y="0"/>
                    <a:pt x="344" y="10"/>
                    <a:pt x="344" y="22"/>
                  </a:cubicBezTo>
                  <a:cubicBezTo>
                    <a:pt x="344" y="34"/>
                    <a:pt x="334" y="44"/>
                    <a:pt x="321" y="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Freeform 76"/>
            <p:cNvSpPr>
              <a:spLocks noEditPoints="1"/>
            </p:cNvSpPr>
            <p:nvPr/>
          </p:nvSpPr>
          <p:spPr bwMode="auto">
            <a:xfrm>
              <a:off x="2516370" y="4435326"/>
              <a:ext cx="136481" cy="105378"/>
            </a:xfrm>
            <a:custGeom>
              <a:avLst/>
              <a:gdLst>
                <a:gd name="T0" fmla="*/ 732 w 732"/>
                <a:gd name="T1" fmla="*/ 488 h 565"/>
                <a:gd name="T2" fmla="*/ 655 w 732"/>
                <a:gd name="T3" fmla="*/ 565 h 565"/>
                <a:gd name="T4" fmla="*/ 77 w 732"/>
                <a:gd name="T5" fmla="*/ 565 h 565"/>
                <a:gd name="T6" fmla="*/ 0 w 732"/>
                <a:gd name="T7" fmla="*/ 488 h 565"/>
                <a:gd name="T8" fmla="*/ 0 w 732"/>
                <a:gd name="T9" fmla="*/ 77 h 565"/>
                <a:gd name="T10" fmla="*/ 77 w 732"/>
                <a:gd name="T11" fmla="*/ 0 h 565"/>
                <a:gd name="T12" fmla="*/ 655 w 732"/>
                <a:gd name="T13" fmla="*/ 0 h 565"/>
                <a:gd name="T14" fmla="*/ 732 w 732"/>
                <a:gd name="T15" fmla="*/ 77 h 565"/>
                <a:gd name="T16" fmla="*/ 732 w 732"/>
                <a:gd name="T17" fmla="*/ 488 h 565"/>
                <a:gd name="T18" fmla="*/ 687 w 732"/>
                <a:gd name="T19" fmla="*/ 77 h 565"/>
                <a:gd name="T20" fmla="*/ 655 w 732"/>
                <a:gd name="T21" fmla="*/ 44 h 565"/>
                <a:gd name="T22" fmla="*/ 77 w 732"/>
                <a:gd name="T23" fmla="*/ 44 h 565"/>
                <a:gd name="T24" fmla="*/ 45 w 732"/>
                <a:gd name="T25" fmla="*/ 77 h 565"/>
                <a:gd name="T26" fmla="*/ 45 w 732"/>
                <a:gd name="T27" fmla="*/ 488 h 565"/>
                <a:gd name="T28" fmla="*/ 77 w 732"/>
                <a:gd name="T29" fmla="*/ 521 h 565"/>
                <a:gd name="T30" fmla="*/ 655 w 732"/>
                <a:gd name="T31" fmla="*/ 521 h 565"/>
                <a:gd name="T32" fmla="*/ 687 w 732"/>
                <a:gd name="T33" fmla="*/ 488 h 565"/>
                <a:gd name="T34" fmla="*/ 687 w 732"/>
                <a:gd name="T35" fmla="*/ 77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2" h="565">
                  <a:moveTo>
                    <a:pt x="732" y="488"/>
                  </a:moveTo>
                  <a:cubicBezTo>
                    <a:pt x="732" y="531"/>
                    <a:pt x="697" y="565"/>
                    <a:pt x="655" y="565"/>
                  </a:cubicBezTo>
                  <a:cubicBezTo>
                    <a:pt x="77" y="565"/>
                    <a:pt x="77" y="565"/>
                    <a:pt x="77" y="565"/>
                  </a:cubicBezTo>
                  <a:cubicBezTo>
                    <a:pt x="35" y="565"/>
                    <a:pt x="0" y="531"/>
                    <a:pt x="0" y="488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34"/>
                    <a:pt x="35" y="0"/>
                    <a:pt x="77" y="0"/>
                  </a:cubicBezTo>
                  <a:cubicBezTo>
                    <a:pt x="655" y="0"/>
                    <a:pt x="655" y="0"/>
                    <a:pt x="655" y="0"/>
                  </a:cubicBezTo>
                  <a:cubicBezTo>
                    <a:pt x="697" y="0"/>
                    <a:pt x="732" y="34"/>
                    <a:pt x="732" y="77"/>
                  </a:cubicBezTo>
                  <a:cubicBezTo>
                    <a:pt x="732" y="488"/>
                    <a:pt x="732" y="488"/>
                    <a:pt x="732" y="488"/>
                  </a:cubicBezTo>
                  <a:close/>
                  <a:moveTo>
                    <a:pt x="687" y="77"/>
                  </a:moveTo>
                  <a:cubicBezTo>
                    <a:pt x="687" y="59"/>
                    <a:pt x="673" y="44"/>
                    <a:pt x="655" y="44"/>
                  </a:cubicBezTo>
                  <a:cubicBezTo>
                    <a:pt x="77" y="44"/>
                    <a:pt x="77" y="44"/>
                    <a:pt x="77" y="44"/>
                  </a:cubicBezTo>
                  <a:cubicBezTo>
                    <a:pt x="59" y="44"/>
                    <a:pt x="45" y="59"/>
                    <a:pt x="45" y="77"/>
                  </a:cubicBezTo>
                  <a:cubicBezTo>
                    <a:pt x="45" y="488"/>
                    <a:pt x="45" y="488"/>
                    <a:pt x="45" y="488"/>
                  </a:cubicBezTo>
                  <a:cubicBezTo>
                    <a:pt x="45" y="506"/>
                    <a:pt x="59" y="521"/>
                    <a:pt x="77" y="521"/>
                  </a:cubicBezTo>
                  <a:cubicBezTo>
                    <a:pt x="655" y="521"/>
                    <a:pt x="655" y="521"/>
                    <a:pt x="655" y="521"/>
                  </a:cubicBezTo>
                  <a:cubicBezTo>
                    <a:pt x="673" y="521"/>
                    <a:pt x="687" y="506"/>
                    <a:pt x="687" y="488"/>
                  </a:cubicBezTo>
                  <a:lnTo>
                    <a:pt x="687" y="7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Freeform 77"/>
            <p:cNvSpPr/>
            <p:nvPr/>
          </p:nvSpPr>
          <p:spPr bwMode="auto">
            <a:xfrm>
              <a:off x="2518799" y="4513830"/>
              <a:ext cx="132250" cy="4152"/>
            </a:xfrm>
            <a:custGeom>
              <a:avLst/>
              <a:gdLst>
                <a:gd name="T0" fmla="*/ 698 w 709"/>
                <a:gd name="T1" fmla="*/ 22 h 22"/>
                <a:gd name="T2" fmla="*/ 11 w 709"/>
                <a:gd name="T3" fmla="*/ 22 h 22"/>
                <a:gd name="T4" fmla="*/ 0 w 709"/>
                <a:gd name="T5" fmla="*/ 11 h 22"/>
                <a:gd name="T6" fmla="*/ 11 w 709"/>
                <a:gd name="T7" fmla="*/ 0 h 22"/>
                <a:gd name="T8" fmla="*/ 698 w 709"/>
                <a:gd name="T9" fmla="*/ 0 h 22"/>
                <a:gd name="T10" fmla="*/ 709 w 709"/>
                <a:gd name="T11" fmla="*/ 11 h 22"/>
                <a:gd name="T12" fmla="*/ 698 w 70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9" h="22">
                  <a:moveTo>
                    <a:pt x="698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04" y="0"/>
                    <a:pt x="709" y="5"/>
                    <a:pt x="709" y="11"/>
                  </a:cubicBezTo>
                  <a:cubicBezTo>
                    <a:pt x="709" y="17"/>
                    <a:pt x="704" y="22"/>
                    <a:pt x="698" y="2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Freeform 78"/>
            <p:cNvSpPr/>
            <p:nvPr/>
          </p:nvSpPr>
          <p:spPr bwMode="auto">
            <a:xfrm>
              <a:off x="2518799" y="4453973"/>
              <a:ext cx="132250" cy="4152"/>
            </a:xfrm>
            <a:custGeom>
              <a:avLst/>
              <a:gdLst>
                <a:gd name="T0" fmla="*/ 698 w 709"/>
                <a:gd name="T1" fmla="*/ 22 h 22"/>
                <a:gd name="T2" fmla="*/ 11 w 709"/>
                <a:gd name="T3" fmla="*/ 22 h 22"/>
                <a:gd name="T4" fmla="*/ 0 w 709"/>
                <a:gd name="T5" fmla="*/ 11 h 22"/>
                <a:gd name="T6" fmla="*/ 11 w 709"/>
                <a:gd name="T7" fmla="*/ 0 h 22"/>
                <a:gd name="T8" fmla="*/ 698 w 709"/>
                <a:gd name="T9" fmla="*/ 0 h 22"/>
                <a:gd name="T10" fmla="*/ 709 w 709"/>
                <a:gd name="T11" fmla="*/ 11 h 22"/>
                <a:gd name="T12" fmla="*/ 698 w 70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9" h="22">
                  <a:moveTo>
                    <a:pt x="698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04" y="0"/>
                    <a:pt x="709" y="5"/>
                    <a:pt x="709" y="11"/>
                  </a:cubicBezTo>
                  <a:cubicBezTo>
                    <a:pt x="709" y="17"/>
                    <a:pt x="704" y="22"/>
                    <a:pt x="698" y="2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Freeform 79"/>
            <p:cNvSpPr/>
            <p:nvPr/>
          </p:nvSpPr>
          <p:spPr bwMode="auto">
            <a:xfrm>
              <a:off x="2575130" y="4482335"/>
              <a:ext cx="5249" cy="5954"/>
            </a:xfrm>
            <a:custGeom>
              <a:avLst/>
              <a:gdLst>
                <a:gd name="T0" fmla="*/ 12 w 28"/>
                <a:gd name="T1" fmla="*/ 32 h 32"/>
                <a:gd name="T2" fmla="*/ 8 w 28"/>
                <a:gd name="T3" fmla="*/ 31 h 32"/>
                <a:gd name="T4" fmla="*/ 2 w 28"/>
                <a:gd name="T5" fmla="*/ 16 h 32"/>
                <a:gd name="T6" fmla="*/ 5 w 28"/>
                <a:gd name="T7" fmla="*/ 9 h 32"/>
                <a:gd name="T8" fmla="*/ 19 w 28"/>
                <a:gd name="T9" fmla="*/ 2 h 32"/>
                <a:gd name="T10" fmla="*/ 26 w 28"/>
                <a:gd name="T11" fmla="*/ 17 h 32"/>
                <a:gd name="T12" fmla="*/ 23 w 28"/>
                <a:gd name="T13" fmla="*/ 24 h 32"/>
                <a:gd name="T14" fmla="*/ 12 w 28"/>
                <a:gd name="T1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2">
                  <a:moveTo>
                    <a:pt x="12" y="32"/>
                  </a:moveTo>
                  <a:cubicBezTo>
                    <a:pt x="11" y="32"/>
                    <a:pt x="10" y="31"/>
                    <a:pt x="8" y="31"/>
                  </a:cubicBezTo>
                  <a:cubicBezTo>
                    <a:pt x="3" y="29"/>
                    <a:pt x="0" y="22"/>
                    <a:pt x="2" y="16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7" y="3"/>
                    <a:pt x="14" y="0"/>
                    <a:pt x="19" y="2"/>
                  </a:cubicBezTo>
                  <a:cubicBezTo>
                    <a:pt x="25" y="5"/>
                    <a:pt x="28" y="11"/>
                    <a:pt x="26" y="17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1" y="29"/>
                    <a:pt x="17" y="32"/>
                    <a:pt x="12" y="3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Freeform 80"/>
            <p:cNvSpPr/>
            <p:nvPr/>
          </p:nvSpPr>
          <p:spPr bwMode="auto">
            <a:xfrm>
              <a:off x="2567139" y="4489073"/>
              <a:ext cx="10577" cy="19352"/>
            </a:xfrm>
            <a:custGeom>
              <a:avLst/>
              <a:gdLst>
                <a:gd name="T0" fmla="*/ 13 w 57"/>
                <a:gd name="T1" fmla="*/ 104 h 104"/>
                <a:gd name="T2" fmla="*/ 9 w 57"/>
                <a:gd name="T3" fmla="*/ 103 h 104"/>
                <a:gd name="T4" fmla="*/ 3 w 57"/>
                <a:gd name="T5" fmla="*/ 89 h 104"/>
                <a:gd name="T6" fmla="*/ 34 w 57"/>
                <a:gd name="T7" fmla="*/ 8 h 104"/>
                <a:gd name="T8" fmla="*/ 48 w 57"/>
                <a:gd name="T9" fmla="*/ 2 h 104"/>
                <a:gd name="T10" fmla="*/ 55 w 57"/>
                <a:gd name="T11" fmla="*/ 16 h 104"/>
                <a:gd name="T12" fmla="*/ 23 w 57"/>
                <a:gd name="T13" fmla="*/ 97 h 104"/>
                <a:gd name="T14" fmla="*/ 13 w 57"/>
                <a:gd name="T15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04">
                  <a:moveTo>
                    <a:pt x="13" y="104"/>
                  </a:moveTo>
                  <a:cubicBezTo>
                    <a:pt x="12" y="104"/>
                    <a:pt x="10" y="104"/>
                    <a:pt x="9" y="103"/>
                  </a:cubicBezTo>
                  <a:cubicBezTo>
                    <a:pt x="3" y="101"/>
                    <a:pt x="0" y="95"/>
                    <a:pt x="3" y="89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6" y="3"/>
                    <a:pt x="43" y="0"/>
                    <a:pt x="48" y="2"/>
                  </a:cubicBezTo>
                  <a:cubicBezTo>
                    <a:pt x="54" y="4"/>
                    <a:pt x="57" y="11"/>
                    <a:pt x="55" y="16"/>
                  </a:cubicBezTo>
                  <a:cubicBezTo>
                    <a:pt x="23" y="97"/>
                    <a:pt x="23" y="97"/>
                    <a:pt x="23" y="97"/>
                  </a:cubicBezTo>
                  <a:cubicBezTo>
                    <a:pt x="22" y="101"/>
                    <a:pt x="17" y="104"/>
                    <a:pt x="13" y="10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81"/>
            <p:cNvSpPr/>
            <p:nvPr/>
          </p:nvSpPr>
          <p:spPr bwMode="auto">
            <a:xfrm>
              <a:off x="2558913" y="4467997"/>
              <a:ext cx="13241" cy="26482"/>
            </a:xfrm>
            <a:custGeom>
              <a:avLst/>
              <a:gdLst>
                <a:gd name="T0" fmla="*/ 12 w 71"/>
                <a:gd name="T1" fmla="*/ 142 h 142"/>
                <a:gd name="T2" fmla="*/ 8 w 71"/>
                <a:gd name="T3" fmla="*/ 141 h 142"/>
                <a:gd name="T4" fmla="*/ 2 w 71"/>
                <a:gd name="T5" fmla="*/ 127 h 142"/>
                <a:gd name="T6" fmla="*/ 48 w 71"/>
                <a:gd name="T7" fmla="*/ 9 h 142"/>
                <a:gd name="T8" fmla="*/ 62 w 71"/>
                <a:gd name="T9" fmla="*/ 2 h 142"/>
                <a:gd name="T10" fmla="*/ 68 w 71"/>
                <a:gd name="T11" fmla="*/ 17 h 142"/>
                <a:gd name="T12" fmla="*/ 22 w 71"/>
                <a:gd name="T13" fmla="*/ 135 h 142"/>
                <a:gd name="T14" fmla="*/ 12 w 71"/>
                <a:gd name="T15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142">
                  <a:moveTo>
                    <a:pt x="12" y="142"/>
                  </a:moveTo>
                  <a:cubicBezTo>
                    <a:pt x="11" y="142"/>
                    <a:pt x="9" y="141"/>
                    <a:pt x="8" y="141"/>
                  </a:cubicBezTo>
                  <a:cubicBezTo>
                    <a:pt x="2" y="139"/>
                    <a:pt x="0" y="132"/>
                    <a:pt x="2" y="127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0" y="3"/>
                    <a:pt x="56" y="0"/>
                    <a:pt x="62" y="2"/>
                  </a:cubicBezTo>
                  <a:cubicBezTo>
                    <a:pt x="68" y="4"/>
                    <a:pt x="71" y="11"/>
                    <a:pt x="68" y="17"/>
                  </a:cubicBezTo>
                  <a:cubicBezTo>
                    <a:pt x="22" y="135"/>
                    <a:pt x="22" y="135"/>
                    <a:pt x="22" y="135"/>
                  </a:cubicBezTo>
                  <a:cubicBezTo>
                    <a:pt x="21" y="139"/>
                    <a:pt x="17" y="142"/>
                    <a:pt x="12" y="1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82"/>
            <p:cNvSpPr/>
            <p:nvPr/>
          </p:nvSpPr>
          <p:spPr bwMode="auto">
            <a:xfrm>
              <a:off x="2554839" y="4497064"/>
              <a:ext cx="5954" cy="7678"/>
            </a:xfrm>
            <a:custGeom>
              <a:avLst/>
              <a:gdLst>
                <a:gd name="T0" fmla="*/ 13 w 32"/>
                <a:gd name="T1" fmla="*/ 41 h 41"/>
                <a:gd name="T2" fmla="*/ 9 w 32"/>
                <a:gd name="T3" fmla="*/ 40 h 41"/>
                <a:gd name="T4" fmla="*/ 2 w 32"/>
                <a:gd name="T5" fmla="*/ 26 h 41"/>
                <a:gd name="T6" fmla="*/ 9 w 32"/>
                <a:gd name="T7" fmla="*/ 9 h 41"/>
                <a:gd name="T8" fmla="*/ 23 w 32"/>
                <a:gd name="T9" fmla="*/ 2 h 41"/>
                <a:gd name="T10" fmla="*/ 30 w 32"/>
                <a:gd name="T11" fmla="*/ 17 h 41"/>
                <a:gd name="T12" fmla="*/ 23 w 32"/>
                <a:gd name="T13" fmla="*/ 34 h 41"/>
                <a:gd name="T14" fmla="*/ 13 w 32"/>
                <a:gd name="T1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13" y="41"/>
                  </a:moveTo>
                  <a:cubicBezTo>
                    <a:pt x="11" y="41"/>
                    <a:pt x="10" y="41"/>
                    <a:pt x="9" y="40"/>
                  </a:cubicBezTo>
                  <a:cubicBezTo>
                    <a:pt x="3" y="38"/>
                    <a:pt x="0" y="32"/>
                    <a:pt x="2" y="26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1" y="3"/>
                    <a:pt x="18" y="0"/>
                    <a:pt x="23" y="2"/>
                  </a:cubicBezTo>
                  <a:cubicBezTo>
                    <a:pt x="29" y="4"/>
                    <a:pt x="32" y="11"/>
                    <a:pt x="30" y="17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1" y="38"/>
                    <a:pt x="17" y="41"/>
                    <a:pt x="13" y="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8600" y="331646"/>
            <a:ext cx="2358543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总体进度计划</a:t>
            </a:r>
            <a:endParaRPr lang="zh-CN" altLang="en-US" sz="2400" dirty="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 rot="5400000">
            <a:off x="8782172" y="372975"/>
            <a:ext cx="145928" cy="145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 rot="5400000">
            <a:off x="8533535" y="372975"/>
            <a:ext cx="145928" cy="145928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-2147482580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8283" y="833120"/>
            <a:ext cx="6115685" cy="42087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44285" y="2608580"/>
            <a:ext cx="2684780" cy="80391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 rot="5400000">
            <a:off x="8782172" y="372975"/>
            <a:ext cx="145928" cy="145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 rot="5400000">
            <a:off x="8533535" y="372975"/>
            <a:ext cx="145928" cy="145928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907103" y="2308143"/>
            <a:ext cx="4236914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 w="19050"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  <a:sym typeface="思源黑体 CN Normal"/>
              </a:rPr>
              <a:t>项目预算与资源</a:t>
            </a:r>
            <a:endParaRPr kumimoji="0" lang="zh-CN" altLang="en-US" sz="4400" b="0" i="0" u="none" strike="noStrike" kern="1200" cap="none" spc="0" normalizeH="0" baseline="0" noProof="0" dirty="0">
              <a:ln w="19050"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时尚中黑简体" panose="01010104010101010101" pitchFamily="2" charset="-122"/>
              <a:ea typeface="时尚中黑简体" panose="01010104010101010101" pitchFamily="2" charset="-122"/>
              <a:cs typeface="+mn-cs"/>
              <a:sym typeface="思源黑体 CN Normal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333422" y="3519160"/>
            <a:ext cx="273256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/>
          <p:cNvSpPr/>
          <p:nvPr/>
        </p:nvSpPr>
        <p:spPr>
          <a:xfrm>
            <a:off x="5305676" y="3741799"/>
            <a:ext cx="1282185" cy="299382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</a:rPr>
              <a:t>第四单元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时尚中黑简体" panose="01010104010101010101" pitchFamily="2" charset="-122"/>
              <a:ea typeface="时尚中黑简体" panose="0101010401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8600" y="319581"/>
            <a:ext cx="2358543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+mn-lt"/>
              </a:rPr>
              <a:t>预算总览</a:t>
            </a:r>
            <a:endParaRPr lang="zh-CN" altLang="en-US" sz="2400" dirty="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时尚中黑简体" panose="01010104010101010101" pitchFamily="2" charset="-122"/>
              <a:ea typeface="时尚中黑简体" panose="01010104010101010101" pitchFamily="2" charset="-122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 rot="5400000">
            <a:off x="8782172" y="372975"/>
            <a:ext cx="145928" cy="145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 rot="5400000">
            <a:off x="8533535" y="372975"/>
            <a:ext cx="145928" cy="145928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0" y="4826000"/>
            <a:ext cx="9144000" cy="317500"/>
          </a:xfrm>
          <a:prstGeom prst="rect">
            <a:avLst/>
          </a:prstGeom>
          <a:solidFill>
            <a:srgbClr val="5C5C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8600" y="780019"/>
            <a:ext cx="8270366" cy="575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本项目预算总金额为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720416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元，涵盖人力资源费用、设备成本、其它经费预算三大类，所有预算科目均基于杭州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 IT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行业市场行情、项目实际需求及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 6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个月项目周期核算，具体明细如下：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7865" y="1529715"/>
            <a:ext cx="3001645" cy="20612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22520" y="1475740"/>
            <a:ext cx="2884170" cy="21075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635" y="3682365"/>
            <a:ext cx="2884170" cy="10521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79905" y="1326515"/>
            <a:ext cx="2262505" cy="111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/>
              <a:t>人员成本</a:t>
            </a:r>
            <a:endParaRPr lang="zh-CN" altLang="en-US" sz="1000"/>
          </a:p>
        </p:txBody>
      </p:sp>
      <p:sp>
        <p:nvSpPr>
          <p:cNvPr id="10" name="文本框 9"/>
          <p:cNvSpPr txBox="1"/>
          <p:nvPr/>
        </p:nvSpPr>
        <p:spPr>
          <a:xfrm>
            <a:off x="6096000" y="1230630"/>
            <a:ext cx="3048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设备成本</a:t>
            </a:r>
            <a:endParaRPr lang="zh-CN" altLang="en-US" sz="1000"/>
          </a:p>
        </p:txBody>
      </p:sp>
      <p:sp>
        <p:nvSpPr>
          <p:cNvPr id="11" name="文本框 10"/>
          <p:cNvSpPr txBox="1"/>
          <p:nvPr/>
        </p:nvSpPr>
        <p:spPr>
          <a:xfrm>
            <a:off x="3851910" y="3437255"/>
            <a:ext cx="3048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其它经费预算</a:t>
            </a:r>
            <a:endParaRPr lang="zh-CN" altLang="en-US" sz="100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4891929" y="2180367"/>
            <a:ext cx="402347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 w="19050"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  <a:sym typeface="思源黑体 CN Normal"/>
              </a:rPr>
              <a:t>再接再厉</a:t>
            </a:r>
            <a:endParaRPr kumimoji="0" lang="zh-CN" altLang="en-US" sz="4400" b="0" i="0" u="none" strike="noStrike" kern="1200" cap="none" spc="0" normalizeH="0" baseline="0" noProof="0" dirty="0">
              <a:ln w="19050"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时尚中黑简体" panose="01010104010101010101" pitchFamily="2" charset="-122"/>
              <a:ea typeface="时尚中黑简体" panose="01010104010101010101" pitchFamily="2" charset="-122"/>
              <a:cs typeface="+mn-cs"/>
              <a:sym typeface="思源黑体 CN Norm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 w="19050"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  <a:sym typeface="思源黑体 CN Normal"/>
              </a:rPr>
              <a:t>感谢大家观看</a:t>
            </a:r>
            <a:endParaRPr kumimoji="0" lang="zh-CN" altLang="en-US" sz="4400" b="0" i="0" u="none" strike="noStrike" kern="1200" cap="none" spc="0" normalizeH="0" baseline="0" noProof="0" dirty="0">
              <a:ln w="19050"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时尚中黑简体" panose="01010104010101010101" pitchFamily="2" charset="-122"/>
              <a:ea typeface="时尚中黑简体" panose="01010104010101010101" pitchFamily="2" charset="-122"/>
              <a:cs typeface="+mn-cs"/>
              <a:sym typeface="思源黑体 CN Normal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5045149" y="3801447"/>
            <a:ext cx="273256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 rot="5400000">
            <a:off x="8782172" y="372975"/>
            <a:ext cx="145928" cy="145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 rot="5400000">
            <a:off x="8533535" y="372975"/>
            <a:ext cx="145928" cy="145928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035088" y="3937743"/>
            <a:ext cx="1434538" cy="299382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</a:rPr>
              <a:t>汇报人：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</a:rPr>
              <a:t>罗侨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时尚中黑简体" panose="01010104010101010101" pitchFamily="2" charset="-122"/>
              <a:ea typeface="时尚中黑简体" panose="0101010401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2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3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4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5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6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7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8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9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10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11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12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13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14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15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16.xml><?xml version="1.0" encoding="utf-8"?>
<p:tagLst xmlns:p="http://schemas.openxmlformats.org/presentationml/2006/main">
  <p:tag name="KSO_WM_DIAGRAM_VIRTUALLY_FRAME" val="{&quot;height&quot;:277.16314960629927,&quot;left&quot;:439.628031496063,&quot;top&quot;:82.91543307086614,&quot;width&quot;:268.7129921259842}"/>
</p:tagLst>
</file>

<file path=ppt/tags/tag17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18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19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20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21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22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23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24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25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26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27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28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29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30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31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32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33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34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35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36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37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38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39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40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41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42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43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44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45.xml><?xml version="1.0" encoding="utf-8"?>
<p:tagLst xmlns:p="http://schemas.openxmlformats.org/presentationml/2006/main">
  <p:tag name="KSO_WM_DIAGRAM_VIRTUALLY_FRAME" val="{&quot;height&quot;:240.84503937007875,&quot;left&quot;:38.44976377952756,&quot;top&quot;:115.60574803149606,&quot;width&quot;:658.5750393700788}"/>
</p:tagLst>
</file>

<file path=ppt/tags/tag46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47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48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49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50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51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52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53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54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55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56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57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58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59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60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61.xml><?xml version="1.0" encoding="utf-8"?>
<p:tagLst xmlns:p="http://schemas.openxmlformats.org/presentationml/2006/main">
  <p:tag name="KSO_WM_DIAGRAM_VIRTUALLY_FRAME" val="{&quot;height&quot;:311.2059842519685,&quot;left&quot;:215.65023622047244,&quot;top&quot;:76.76842519685039,&quot;width&quot;:464.0561417322835}"/>
</p:tagLst>
</file>

<file path=ppt/tags/tag62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COMMONDATA" val="eyJoZGlkIjoiMGU2ZjNlMTA1ZDAzOTM1NTk4ZDgzNjMxOTgwNTE2YWQifQ=="/>
  <p:tag name="ISLIDE.GUIDESSETTING" val="{&quot;Id&quot;:&quot;GuidesStyle_Narrow&quot;,&quot;Name&quot;:&quot;较窄&quot;,&quot;Kind&quot;:&quot;System&quot;,&quot;OldGuidesSetting&quot;:{&quot;HeaderHeight&quot;:10.0,&quot;FooterHeight&quot;:5.0,&quot;SideMargin&quot;:2.5,&quot;TopMargin&quot;:0.0,&quot;BottomMargin&quot;:0.0,&quot;IntervalMargin&quot;:1.0}}"/>
</p:tagLst>
</file>

<file path=ppt/theme/theme1.xml><?xml version="1.0" encoding="utf-8"?>
<a:theme xmlns:a="http://schemas.openxmlformats.org/drawingml/2006/main" name="第一PPT，www.1ppt.com">
  <a:themeElements>
    <a:clrScheme name="北欧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62626"/>
      </a:accent1>
      <a:accent2>
        <a:srgbClr val="3F3F3F"/>
      </a:accent2>
      <a:accent3>
        <a:srgbClr val="3F3F3F"/>
      </a:accent3>
      <a:accent4>
        <a:srgbClr val="595959"/>
      </a:accent4>
      <a:accent5>
        <a:srgbClr val="5F5F5F"/>
      </a:accent5>
      <a:accent6>
        <a:srgbClr val="4D4D4D"/>
      </a:accent6>
      <a:hlink>
        <a:srgbClr val="000000"/>
      </a:hlink>
      <a:folHlink>
        <a:srgbClr val="919191"/>
      </a:folHlink>
    </a:clrScheme>
    <a:fontScheme name="1思源黑体">
      <a:majorFont>
        <a:latin typeface="Arial"/>
        <a:ea typeface="思源黑体 CN Heavy"/>
        <a:cs typeface="Arial"/>
      </a:majorFont>
      <a:minorFont>
        <a:latin typeface="思源黑体 CN Normal"/>
        <a:ea typeface="思源黑体 CN Normal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906</Words>
  <Application>WPS 演示</Application>
  <PresentationFormat>全屏显示(16:9)</PresentationFormat>
  <Paragraphs>102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时尚中黑简体</vt:lpstr>
      <vt:lpstr>黑体</vt:lpstr>
      <vt:lpstr>Wingdings</vt:lpstr>
      <vt:lpstr>Arial</vt:lpstr>
      <vt:lpstr>思源黑体 CN Normal</vt:lpstr>
      <vt:lpstr>汉仪雅酷黑 65W</vt:lpstr>
      <vt:lpstr>汉仪旗黑-50S</vt:lpstr>
      <vt:lpstr>思源黑体 CN Normal</vt:lpstr>
      <vt:lpstr>Arial Unicode MS</vt:lpstr>
      <vt:lpstr>思源黑体 CN Normal</vt:lpstr>
      <vt:lpstr>Wingdings</vt:lpstr>
      <vt:lpstr>时尚中黑简体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极简商务</dc:title>
  <dc:creator>第一PPT</dc:creator>
  <cp:keywords>www.1ppt.com</cp:keywords>
  <dc:description>www.1ppt.com</dc:description>
  <cp:lastModifiedBy>32301237</cp:lastModifiedBy>
  <cp:revision>50</cp:revision>
  <dcterms:created xsi:type="dcterms:W3CDTF">2026-03-22T08:05:00Z</dcterms:created>
  <dcterms:modified xsi:type="dcterms:W3CDTF">2026-03-24T08:00:45Z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0138288BD28735931793BF69BCC76BDC_43</vt:lpwstr>
  </property>
  <property fmtid="{D5CDD505-2E9C-101B-9397-08002B2CF9AE}" pid="3" name="KSOProductBuildVer">
    <vt:lpwstr>2052-12.1.0.25222</vt:lpwstr>
  </property>
  <property fmtid="{D5CDD505-2E9C-101B-9397-08002B2CF9AE}" pid="4" name="KSOTemplateUUID">
    <vt:lpwstr>v1.0_mb_6d2iZvVijsLHPjusqeWHrA==</vt:lpwstr>
  </property>
</Properties>
</file>