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60.svg" ContentType="image/svg+xml"/>
  <Override PartName="/ppt/media/image62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需求分析》课程。今天我们将开始学习UML的概述部分，首先进入第一章——“上升到面向对象”。本章将带领大家从一个经典问题出发，理解为什么需要面向对象思想，以及它的核心概念和原则。这是我们后续学习UML建模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本章我们将围绕五个核心部分展开。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首先，我们会通过一个具体的“素数问题”来直观感受面向对象方法与传统方法的区别。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接着，我们会了解面向对象技术的基础知识。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然后，深入探讨其最核心的两个概念：对象和类。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之后，我们会系统学习面向对象的七大原则。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最后，我们将学习如何建立面向对象的思维方式。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从一个经典的编程问题开始：如何判断一个数是不是素数？在传统的结构化方法中，我们会把这个问题分解成一系列步骤，比如输入数字、循环判断、输出结果。这种方法非常关注“怎么做”，是一种流程驱动的思维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面向对象的方法是如何解决这个问题的呢？它的思路完全不同。我们首先会抽象出一个“数字”对象，这个对象有自己的属性和方法。当我们需要解决问题时，我们不再关心具体步骤，而是直接告诉这个“数字”对象去执行这个行为。这种方法关注的是“谁来做”，是一种对象驱动的思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个简单的例子，我们可以看到两种方法论的根本区别。结构化方法关注的是过程和步骤，核心是函数，数据和操作是分离的。而面向对象方法关注的是实体和对象，核心是对象本身，它将数据和操作封装在一起，对象之间通过消息传递来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本思想后，我们来看看面向对象技术的背景。它并非凭空出现，而是经过了几十年的发展，从最初的Simula语言，到后来的Smalltalk，再到我们今天熟知的C++和Java。它之所以能成为主流，是因为它带来了巨大的优势：代码更容易维护、更容易扩展、更容易复用，最重要的是，它的思考方式更贴近我们人类的自然思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深入理解面向对象最核心的概念：对象。对象是我们要研究的任何事物，它由两部分组成：描述它状态的属性，和描述它行为的方法。比如一个学生对象，它的姓名、学号是属性，而学习、考试是它的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对象，我们如何批量创建它们呢？这就需要用到类。类是对象的抽象描述，你可以把它想象成一个模板。比如，“汽车”就是一个类，它定义了所有汽车都应该有的属性和方法。而具体的某辆汽车，就是“汽车”这个类的一个实例，也就是一个对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类和对象的关系非常关键。正如这张图所示，类就像是一个模具，而对象就是用这个模具生产出来的具体产品。一个类可以创建出无数个对象。每个对象都继承了类的属性和方法，但它们的属性值可以各不相同。比如，“汽车”是一个类，我们可以用它创建出“红色宝马”和“蓝色奔驰”这两个不同的对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接下来我们学习面向对象的几个核心原则。首先是抽象和封装。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抽象，就是抓住重点，忽略次要。封装，则是把数据和操作打包成一个整体，并对外隐藏细节。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就像这张图展示的，我们只需要通过外部的接口来使用对象，而不需要了解其内部复杂的实现。这大大提高了代码的安全性和可维护性。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分解和泛化。分解，就是分而治之，把一个大问题拆成多个小问题。泛化，也叫继承，是面向对象实现代码复用的关键。我们可以从多个相似的类中抽象出一个更通用的父类。比如，猫和狗都属于动物，它们可以继承动物类的进食、呼吸等方法。这张图就很好地展示了这种层次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态是面向对象中非常强大的一个特性。它的意思是，同一个命令，不同的对象会做出不同的反应。比如，我们对猫和狗都发出“发声”的指令，猫会“喵”，狗会“汪”。这就是多态。它让我们的代码更加灵活，可以用统一的方式处理不同类型的对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两个原则是分层和复用。分层，是将复杂系统按功能划分，比如常见的三层架构，每一层各司其职，只和上下层打交道，这让系统结构更清晰。复用，则是面向对象思想的最终目标之一，就是利用现有的、成熟的代码来构建新系统，这能极大地提高开发效率和代码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接下来，我们用一个简单的案例来实践面向对象的思维。这个过程主要分为三步：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首先，从故事中识别出核心对象，比如人和礼物。这一步的关键是把具体的故事描述转化为抽象的概念。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然后，为这些对象定义它们的属性和方法，并建立它们之间的关系，比如“赠送”这个动作。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最后，我们使用UML图，比如类图或活动图，来可视化地表达我们的分析结果，让逻辑结构一目了然。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让我们来总结一下本章的内容。首先，我们理解了从面向过程到面向对象的思想转变。其次，我们掌握了对象和类这两个核心概念。然后，我们学习了面向对象的七大原则。此外，我们还了解到需要使用UML等工具来可视化地表达分析结果。最后，我们明确了建立面向对象思维的重要性。这一章是我们后续学习UML建模的基石，请大家务必牢固掌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第一章的内容就到这里，感谢大家的聆听。现在是问答环节，大家对今天的内容有什么疑问吗？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9.sv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7.sv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image" Target="../media/image27.sv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2.sv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42.svg"/><Relationship Id="rId13" Type="http://schemas.openxmlformats.org/officeDocument/2006/relationships/image" Target="../media/image41.png"/><Relationship Id="rId12" Type="http://schemas.openxmlformats.org/officeDocument/2006/relationships/image" Target="../media/image40.svg"/><Relationship Id="rId11" Type="http://schemas.openxmlformats.org/officeDocument/2006/relationships/image" Target="../media/image39.png"/><Relationship Id="rId10" Type="http://schemas.openxmlformats.org/officeDocument/2006/relationships/image" Target="../media/image38.svg"/><Relationship Id="rId1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7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7.svg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3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image" Target="../media/image5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svg"/><Relationship Id="rId8" Type="http://schemas.openxmlformats.org/officeDocument/2006/relationships/image" Target="../media/image69.png"/><Relationship Id="rId7" Type="http://schemas.openxmlformats.org/officeDocument/2006/relationships/image" Target="../media/image68.svg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Relationship Id="rId3" Type="http://schemas.openxmlformats.org/officeDocument/2006/relationships/image" Target="../media/image73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3.svg"/><Relationship Id="rId6" Type="http://schemas.openxmlformats.org/officeDocument/2006/relationships/image" Target="../media/image82.png"/><Relationship Id="rId5" Type="http://schemas.openxmlformats.org/officeDocument/2006/relationships/image" Target="../media/image81.svg"/><Relationship Id="rId4" Type="http://schemas.openxmlformats.org/officeDocument/2006/relationships/image" Target="../media/image80.png"/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image" Target="../media/image77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svg"/><Relationship Id="rId7" Type="http://schemas.openxmlformats.org/officeDocument/2006/relationships/image" Target="../media/image90.png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87.svg"/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3.svg"/><Relationship Id="rId1" Type="http://schemas.openxmlformats.org/officeDocument/2006/relationships/image" Target="../media/image8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5.svg"/><Relationship Id="rId1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26186"/>
          <a:stretch>
            <a:fillRect/>
          </a:stretch>
        </p:blipFill>
        <p:spPr>
          <a:xfrm>
            <a:off x="635000" y="1143000"/>
            <a:ext cx="5334000" cy="4064000"/>
          </a:xfrm>
          <a:prstGeom prst="roundRect">
            <a:avLst>
              <a:gd name="adj" fmla="val 500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304800" dist="152400" dir="5400000" algn="tl" rotWithShape="0">
              <a:srgbClr val="0034B4">
                <a:alpha val="18000"/>
              </a:srgbClr>
            </a:outerShdw>
          </a:effectLst>
        </p:spPr>
      </p:pic>
      <p:sp>
        <p:nvSpPr>
          <p:cNvPr id="3" name="AutoShape 3"/>
          <p:cNvSpPr/>
          <p:nvPr/>
        </p:nvSpPr>
        <p:spPr>
          <a:xfrm>
            <a:off x="635000" y="5397500"/>
            <a:ext cx="5334000" cy="508000"/>
          </a:xfrm>
          <a:prstGeom prst="roundRect">
            <a:avLst>
              <a:gd name="adj" fmla="val 2500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核心基础 · 建模思维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1143000"/>
            <a:ext cx="5207000" cy="4762500"/>
          </a:xfrm>
          <a:prstGeom prst="roundRect">
            <a:avLst>
              <a:gd name="adj" fmla="val 42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1F2937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731000" y="1651000"/>
            <a:ext cx="1397000" cy="406400"/>
          </a:xfrm>
          <a:prstGeom prst="roundRect">
            <a:avLst>
              <a:gd name="adj" fmla="val 50000"/>
            </a:avLst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需求分析课程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731000" y="2286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UML概述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31000" y="3238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第一章：上升到面向对象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822">
            <a:off x="6731009" y="3930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52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6731000" y="4191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从经典问题出发，理解面向对象的核心概念与原则，构建系统化的建模思维框架。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© 2026 需求分析课程系列教材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本章目录：面向对象技术导论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879600" cy="3556000"/>
          </a:xfrm>
          <a:prstGeom prst="roundRect">
            <a:avLst>
              <a:gd name="adj" fmla="val 67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52CC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8796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447800" y="2159000"/>
            <a:ext cx="1016000" cy="10160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1800" y="2413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810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问题引入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素数问题对比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直观感受差异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86100" y="1778000"/>
            <a:ext cx="1879600" cy="3556000"/>
          </a:xfrm>
          <a:prstGeom prst="roundRect">
            <a:avLst>
              <a:gd name="adj" fmla="val 67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52CC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086100" y="1778000"/>
            <a:ext cx="18796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17900" y="2159000"/>
            <a:ext cx="1016000" cy="10160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1900" y="2413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0861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86100" y="3810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技术基础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86100" y="4318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发展历程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核心技术优势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156200" y="1778000"/>
            <a:ext cx="1879600" cy="3556000"/>
          </a:xfrm>
          <a:prstGeom prst="roundRect">
            <a:avLst>
              <a:gd name="adj" fmla="val 67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52CC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156200" y="1778000"/>
            <a:ext cx="18796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588000" y="2159000"/>
            <a:ext cx="1016000" cy="10160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2413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1562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156200" y="3810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156200" y="4318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对象与类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关系与本质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226300" y="1778000"/>
            <a:ext cx="1879600" cy="3556000"/>
          </a:xfrm>
          <a:prstGeom prst="roundRect">
            <a:avLst>
              <a:gd name="adj" fmla="val 67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52CC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226300" y="1778000"/>
            <a:ext cx="18796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58100" y="2159000"/>
            <a:ext cx="1016000" cy="10160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12100" y="2413000"/>
            <a:ext cx="508000" cy="508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2263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226300" y="3810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七大原则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226300" y="4318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面向对象思想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设计规范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296400" y="1778000"/>
            <a:ext cx="1879600" cy="3556000"/>
          </a:xfrm>
          <a:prstGeom prst="roundRect">
            <a:avLst>
              <a:gd name="adj" fmla="val 67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52CC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296400" y="1778000"/>
            <a:ext cx="18796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728200" y="2159000"/>
            <a:ext cx="1016000" cy="10160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82200" y="2413000"/>
            <a:ext cx="508000" cy="508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2964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296400" y="3810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思维构建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296400" y="4318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分析方法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建模实践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0" y="584200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0" y="60325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从具体问题到抽象思维，系统掌握面向对象核心方法论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从素数问题看面向对象编程思维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gradFill rotWithShape="1">
            <a:gsLst>
              <a:gs pos="0">
                <a:srgbClr val="0052CC">
                  <a:alpha val="100000"/>
                </a:srgbClr>
              </a:gs>
              <a:gs pos="100000">
                <a:srgbClr val="003A9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52CC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1000" y="2413000"/>
            <a:ext cx="1524000" cy="152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算法思维的演进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Algorithm Thinking Evolution</a:t>
            </a:r>
            <a:endParaRPr lang="en-US" sz="14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318000" y="1651000"/>
            <a:ext cx="7112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635500" y="19685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核心问题：素数判定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35500" y="24130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如何设计一个程序，高效且准确地判断一个正整数是否为素数？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6740">
            <a:off x="4635506" y="2851150"/>
            <a:ext cx="647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635500" y="2984500"/>
            <a:ext cx="647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传统结构化方案：过程分解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429000"/>
            <a:ext cx="3111500" cy="9525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36576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61000" y="3492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输入数字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获取待判定的整数N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874000" y="3429000"/>
            <a:ext cx="3111500" cy="9525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500" y="36576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99500" y="34925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边界判断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若N &lt; 2，直接判定非素数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635500" y="4508500"/>
            <a:ext cx="3111500" cy="9525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6000" y="47371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461000" y="4572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循环验证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从2到√N依次尝试整除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874000" y="4508500"/>
            <a:ext cx="3111500" cy="9525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4500" y="47371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699500" y="45720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根据整除情况返回布尔值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635500" y="5588000"/>
            <a:ext cx="6477000" cy="304800"/>
          </a:xfrm>
          <a:prstGeom prst="roundRect">
            <a:avLst>
              <a:gd name="adj" fmla="val 41666"/>
            </a:avLst>
          </a:prstGeom>
          <a:solidFill>
            <a:srgbClr val="0052C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635500" y="5613400"/>
            <a:ext cx="647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核心特点：关注“怎么做”(How)，流程驱动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从素数问题看面向对象的解决方案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953000" cy="4191000"/>
          </a:xfrm>
          <a:prstGeom prst="roundRect">
            <a:avLst>
              <a:gd name="adj" fmla="val 30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905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对象抽象建模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349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将数学问题转化为可交互实体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822">
            <a:off x="1270009" y="2724150"/>
            <a:ext cx="44450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984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2984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定义实体：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创建“数字”对象，封装数据属性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374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746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赋予能力：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挂载“判断是否为素数”的方法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50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508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逻辑闭环：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数据与操作的高度内聚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4953000" cy="4191000"/>
          </a:xfrm>
          <a:prstGeom prst="roundRect">
            <a:avLst>
              <a:gd name="adj" fmla="val 30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905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核心思维特点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349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关注点从“步骤”转向“执行者”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822">
            <a:off x="6477009" y="2724150"/>
            <a:ext cx="44450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984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2984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对象驱动：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直接告诉对象“去做什么”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746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746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屏蔽细节：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调用者无需了解底层算法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508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4508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灵活复用：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同一对象可解决不同数值判断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从结构化到面向对象：方法论的演进与对比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6666" b="4444"/>
          <a:stretch>
            <a:fillRect/>
          </a:stretch>
        </p:blipFill>
        <p:spPr>
          <a:xfrm>
            <a:off x="1016000" y="1651000"/>
            <a:ext cx="5080000" cy="2540000"/>
          </a:xfrm>
          <a:prstGeom prst="roundRect">
            <a:avLst>
              <a:gd name="adj" fmla="val 75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1016000" y="431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图示：结构化的复杂流程网络 vs 面向对象的清晰类结构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651000"/>
            <a:ext cx="45720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604000" y="1905000"/>
            <a:ext cx="711200" cy="711200"/>
          </a:xfrm>
          <a:prstGeom prst="ellipse">
            <a:avLst/>
          </a:prstGeom>
          <a:solidFill>
            <a:srgbClr val="0052C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2032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493000" y="18415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结构化方法 (Structured)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视角：聚焦过程、步骤与执行逻辑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核心：函数调用，数据与操作分离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3302000"/>
            <a:ext cx="45720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604000" y="3556000"/>
            <a:ext cx="711200" cy="711200"/>
          </a:xfrm>
          <a:prstGeom prst="ellipse">
            <a:avLst/>
          </a:prstGeom>
          <a:solidFill>
            <a:srgbClr val="0052C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3683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3492500"/>
            <a:ext cx="323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面向对象方法 (OOP)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视角：聚焦实体、属性与行为特征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核心：对象封装，消息传递交互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9906000" cy="1524000"/>
          </a:xfrm>
          <a:prstGeom prst="roundRect">
            <a:avLst>
              <a:gd name="adj" fmla="val 1250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核心差异：从“分离的过程控制”转向“封装的实体交互”，大幅提升系统复用性与可维护性。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程序更复杂了？的确，原来的思路很清楚，现在程序的结构却不是简简单单就可以写出来的，它需要经过一个复杂的分析设计过程。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这是为什么呢？这样做有必要吗？目标是什么？软件工程思想的出现是为了解决软件危机，而软件危机出现的原因并不是写不出程序，而是写出来的程序无法修改、无法稳定运行。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面向对象技术基础：演进与核心价值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572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96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技术演进历程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84010">
            <a:off x="107950" y="3962415"/>
            <a:ext cx="2730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6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2603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54200" y="2603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起源 · 20世纪60年代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Simula语言首次引入“类”和“对象”概念，奠定理论基石。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3619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54200" y="3619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 · 20世纪80年代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Smalltalk语言使其走向成熟，确立了OOP的核心范式。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4635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54200" y="4635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普及 · 20世纪90年代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C++、Java语言爆发，OOP成为软件行业的主流开发思想。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969000" y="1651000"/>
            <a:ext cx="2476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969000" y="1651000"/>
            <a:ext cx="24765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1968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23000" y="2667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可维护性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封装机制隔离变化，局部修改不影响整体架构稳定性。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636000" y="1651000"/>
            <a:ext cx="2476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636000" y="1651000"/>
            <a:ext cx="24765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0" y="19685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2667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可扩展性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继承与多态机制，允许在现有代码基础上低成本添加新功能。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969000" y="3937000"/>
            <a:ext cx="2476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969000" y="3937000"/>
            <a:ext cx="24765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3000" y="42545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223000" y="4953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可复用性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类与对象标准化，组件可轻松跨项目复用，大幅提升开发效率。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636000" y="3937000"/>
            <a:ext cx="2476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636000" y="3937000"/>
            <a:ext cx="24765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90000" y="42545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890000" y="4953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贴近思维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以对象为中心的建模方式，符合人类对现实世界的自然认知习惯。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1016000" y="6223000"/>
            <a:ext cx="10160000" cy="508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核心概念：对象 (Object)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33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面向对象系统中最基本的运行时实体，既可以是具体的实物（如汽车），也可以是抽象的规则（如计划）。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556000" cy="4064000"/>
          </a:xfrm>
          <a:prstGeom prst="roundRect">
            <a:avLst>
              <a:gd name="adj" fmla="val 4285"/>
            </a:avLst>
          </a:prstGeom>
          <a:gradFill rotWithShape="1">
            <a:gsLst>
              <a:gs pos="0">
                <a:srgbClr val="0052CC">
                  <a:alpha val="100000"/>
                </a:srgbClr>
              </a:gs>
              <a:gs pos="100000">
                <a:srgbClr val="003999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52CC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000" y="2540000"/>
            <a:ext cx="1524000" cy="1524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4318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Object = Data + Method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封装了数据与行为的逻辑单元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2032000"/>
            <a:ext cx="6604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0" y="2286000"/>
            <a:ext cx="609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对象的三大核心特性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标识 (Identity)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每个对象都有唯一的身份，即使属性相同，它们也是不同的对象。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状态 (State)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由对象的属性值决定，会随方法调用而改变。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行为 (Behavior)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对象所能执行的操作，能改变状态并对外产生影响。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096000"/>
            <a:ext cx="10160000" cy="508000"/>
          </a:xfrm>
          <a:prstGeom prst="roundRect">
            <a:avLst>
              <a:gd name="adj" fmla="val 62500"/>
            </a:avLst>
          </a:prstGeom>
          <a:solidFill>
            <a:srgbClr val="0052CC">
              <a:alpha val="8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6197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6159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核心思想：万物皆可为对象 (Everything is an Object)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核心概念：类 (Class)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3175000" cy="3175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52CC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68500" y="1905000"/>
            <a:ext cx="1270000" cy="1270000"/>
          </a:xfrm>
          <a:prstGeom prst="ellipse">
            <a:avLst/>
          </a:prstGeom>
          <a:solidFill>
            <a:srgbClr val="0052C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0" y="2222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065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什么是类？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06500" y="381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对象的抽象描述，是创建对象的“模板”或“蓝图”，规定了共性特征。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1524000"/>
            <a:ext cx="3175000" cy="3175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52CC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461000" y="1905000"/>
            <a:ext cx="1270000" cy="1270000"/>
          </a:xfrm>
          <a:prstGeom prst="ellipse">
            <a:avLst/>
          </a:prstGeom>
          <a:solidFill>
            <a:srgbClr val="0052C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2225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定义属性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81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规定对象共同拥有的静态特征（如姓名、型号），描述对象的固有状态。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1524000"/>
            <a:ext cx="3175000" cy="3175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52CC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953500" y="1905000"/>
            <a:ext cx="1270000" cy="1270000"/>
          </a:xfrm>
          <a:prstGeom prst="ellipse">
            <a:avLst/>
          </a:prstGeom>
          <a:solidFill>
            <a:srgbClr val="0052C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00" y="22225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1915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定义方法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381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规定对象共同拥有的动态行为（如操作、计算），描述对象的动作能力。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953000"/>
            <a:ext cx="1016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2CC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7000" y="5207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2032000" y="5143500"/>
            <a:ext cx="863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UML类图表示：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矩形框代表类，分为类名、属性、方法三部分。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</a:t>
            </a:r>
            <a:r>
              <a:rPr lang="en-US" sz="1400" b="0" i="0" u="none" strike="noStrike">
                <a:solidFill>
                  <a:srgbClr val="4B556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Car { - color: String; + accelerate() }</a:t>
            </a:r>
            <a:endParaRPr lang="en-US" sz="1400" b="0" i="0" u="none" strike="noStrike">
              <a:solidFill>
                <a:srgbClr val="4B5563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核心认知：类是抽象的概念，而对象是具体存在的实例。</a:t>
            </a:r>
            <a:endParaRPr lang="en-US" sz="1400" b="1" i="0" u="none" strike="noStrike">
              <a:solidFill>
                <a:srgbClr val="0052C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类与对象的关系：模板与实例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8874" r="8874"/>
          <a:stretch>
            <a:fillRect/>
          </a:stretch>
        </p:blipFill>
        <p:spPr>
          <a:xfrm>
            <a:off x="1016000" y="1651000"/>
            <a:ext cx="4826000" cy="3302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1016000" y="5080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图示：类（上层抽象）与多个对象实例（下层具体）的关系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651000"/>
            <a:ext cx="4826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19304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366000" y="18034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核心认知：类是“模板”，对象是“产品”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一个类可以创建无数个对象，所有对象共享类的行为（方法），但拥有独立的状态（属性值）。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3683000"/>
            <a:ext cx="4826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39624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38354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案例：汽车类与其实例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类：颜色/品牌/行驶() | 对象：红色宝马、蓝色奔驰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5842000"/>
            <a:ext cx="10160000" cy="609600"/>
          </a:xfrm>
          <a:prstGeom prst="roundRect">
            <a:avLst>
              <a:gd name="adj" fmla="val 41666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52CC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000" y="5969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5842000"/>
            <a:ext cx="9017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核心洞察：类定义事物的共性特征，对象则是这些特征的个性化落地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核心原则：抽象与封装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4826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970" b="2970"/>
          <a:stretch>
            <a:fillRect/>
          </a:stretch>
        </p:blipFill>
        <p:spPr>
          <a:xfrm>
            <a:off x="1143000" y="1714500"/>
            <a:ext cx="4572000" cy="2413000"/>
          </a:xfrm>
          <a:prstGeom prst="roundRect">
            <a:avLst>
              <a:gd name="adj" fmla="val 421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143000" y="425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图示：封装的“黑盒”模型（接口交互 / 隐藏细节）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23000" y="1524000"/>
            <a:ext cx="4953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76200" cy="4826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1778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02500" y="1651000"/>
            <a:ext cx="3683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抽象 (Abstraction)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忽略事物中与当前目标无关的非本质特征，只关注与当前目标有关的本质特征，从而找出事物的共性，并把具有共性的事物划为一类，得出一个抽象的概念。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目的：简化复杂的现实世界，抓住问题的核心。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4191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02500" y="4064000"/>
            <a:ext cx="3683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 (Encapsulation)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定义：将对象的属性和方法捆绑在一起，并尽可能隐藏对象的内部实现细节。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核心思想：信息隐藏。只对外暴露有限的接口供外部交互。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好处：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保护数据：防止外部直接修改对象的内部状态。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降低耦合：外部只需知道对象能做什么，而不需要知道它如何做。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提高可维护性：可以在不影响外部代码的情况下修改内部实现。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核心原则：分解与泛化 (Decomposition &amp; Generalization)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980" b="980"/>
          <a:stretch>
            <a:fillRect/>
          </a:stretch>
        </p:blipFill>
        <p:spPr>
          <a:xfrm>
            <a:off x="1016000" y="1651000"/>
            <a:ext cx="4572000" cy="2540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1016000" y="431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图示：类的层次泛化与继承关系结构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1651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0" y="18415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分解 (Decomposition)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定义：将一个复杂的系统按照某种原则（如功能、职责）分解成若干个较小的、相对独立又相互关联的模块（对象或类）。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目的：分而治之，降低问题的复杂度，使系统更易于理解、开发和维护。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96000" y="4191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0" y="43815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泛化/继承 (Generalization)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定义：指一个类（子类/派生类）可以继承另一个类（父类/基类）的属性和方法。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目的：实现代码复用和多态。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核心原则：多态 (Polymorphism)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82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3836" r="4092"/>
          <a:stretch>
            <a:fillRect/>
          </a:stretch>
        </p:blipFill>
        <p:spPr>
          <a:xfrm>
            <a:off x="1143000" y="1841500"/>
            <a:ext cx="4572000" cy="2794000"/>
          </a:xfrm>
          <a:prstGeom prst="roundRect">
            <a:avLst>
              <a:gd name="adj" fmla="val 363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5270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图示：同一消息指向不同对象产生不同响应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4953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18796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239000" y="17526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什么是多态？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同一个消息发送给不同的对象，会产生不同的行为结果。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8575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0861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2959100"/>
            <a:ext cx="374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核心实现方式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重载：同类同名方法，参数列表不同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重写：子类重新定义父类的方法逻辑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42545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4831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4356100"/>
            <a:ext cx="3746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实例：发声指令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消息“发声()” → 猫叫“喵” / 狗叫“汪” / 人说话“你好”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5397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2CC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5499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48500" y="5461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核心价值：统一接口调用，极大提升扩展性与灵活性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核心原则：分层与复用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52CC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97000" y="2032000"/>
            <a:ext cx="914400" cy="914400"/>
          </a:xfrm>
          <a:prstGeom prst="ellipse">
            <a:avLst/>
          </a:prstGeom>
          <a:solidFill>
            <a:srgbClr val="0052C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" y="22352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540000" y="2159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 (Layering)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0417">
            <a:off x="1397010" y="3105150"/>
            <a:ext cx="419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397000" y="32385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将系统按功能划分为不同的层次，每一层都建立在其下层的基础之上，并为上层提供服务。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目的：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降低系统的复杂性，提高各部分的独立性和可替换性。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经典三层架构（表示/业务/数据）。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4953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52CC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604000" y="2032000"/>
            <a:ext cx="914400" cy="914400"/>
          </a:xfrm>
          <a:prstGeom prst="ellipse">
            <a:avLst/>
          </a:prstGeom>
          <a:solidFill>
            <a:srgbClr val="0052C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7200" y="22352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747000" y="2159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复用 (Reuse)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0417">
            <a:off x="6604010" y="3105150"/>
            <a:ext cx="419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32385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指在新的系统中使用已有的软件元素（如类、对象、组件）。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目的：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提高开发效率，保证软件质量，避免重复“造轮子”。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例子：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直接使用Java标准库中的ArrayList，而非自行编写。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5524500"/>
            <a:ext cx="10160000" cy="762000"/>
          </a:xfrm>
          <a:prstGeom prst="roundRect">
            <a:avLst>
              <a:gd name="adj" fmla="val 16666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2CC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000" y="5702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905000" y="56261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核心价值：降低系统复杂度，最大化开发效率与代码质量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案例分析：从故事到模型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2563EB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841500" y="2413000"/>
            <a:ext cx="1143000" cy="1143000"/>
          </a:xfrm>
          <a:prstGeom prst="ellipse">
            <a:avLst/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667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9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01 识别对象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6370">
            <a:off x="1079515" y="4184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4381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从故事描述中提取名词，抽象出核心概念：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朋友、小伙、姑娘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物：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鲜花、戒指、礼物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45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2563EB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524500" y="2413000"/>
            <a:ext cx="1143000" cy="1143000"/>
          </a:xfrm>
          <a:prstGeom prst="ellipse">
            <a:avLst/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26670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572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02 定义关系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6370">
            <a:off x="4762515" y="4184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635500" y="4381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定义对象属性与方法，建立交互逻辑：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类：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Person, Gift, Event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关系：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赠送(动作)、参与(关联)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28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2563EB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207500" y="2413000"/>
            <a:ext cx="1143000" cy="1143000"/>
          </a:xfrm>
          <a:prstGeom prst="ellipse">
            <a:avLst/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2667000"/>
            <a:ext cx="635000" cy="635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255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03 模型表达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6370">
            <a:off x="8445515" y="4184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318500" y="4381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使用标准化UML图，清晰展示系统结构：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结构：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 (Class Diagram)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行为：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活动图、顺序图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0" y="6159500"/>
            <a:ext cx="12192000" cy="698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0" y="6286500"/>
            <a:ext cx="1219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核心思维：从具象故事中抽象出对象，建立标准化的逻辑模型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面向对象核心思想回顾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816100" y="20955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8500" y="22479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11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思想转变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61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从“怎么做”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(过程)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到“谁来做”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(对象)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94100" y="1778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94200" y="20955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600" y="22479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594100" y="311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21100" y="361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对象：运行实体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(属性+方法)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类：对象的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抽象模板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1778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972300" y="20955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4700" y="22479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172200" y="311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99200" y="361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抽象 · 封装 · 分解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泛化 · 多态 · 分层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778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50400" y="20955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02800" y="22479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50300" y="311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思维方式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77300" y="361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学会用“对象”的眼光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去观察、分析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和解决现实问题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5461000"/>
            <a:ext cx="10160000" cy="762000"/>
          </a:xfrm>
          <a:prstGeom prst="roundRect">
            <a:avLst>
              <a:gd name="adj" fmla="val 16666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2CC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7000" y="56388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968500" y="5461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本章是后续学习UML建模的基础，请务必掌握上述核心内容。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2019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</a:t>
            </a:r>
            <a:r>
              <a:rPr lang="zh-CN" alt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聆听</a:t>
            </a:r>
            <a:endParaRPr lang="zh-CN" alt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334000" y="2499360"/>
            <a:ext cx="1524000" cy="1524000"/>
          </a:xfrm>
          <a:prstGeom prst="ellipse">
            <a:avLst/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52CC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285496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3810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4572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非常感谢大家的时间与关注</a:t>
            </a:r>
            <a:b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欢迎就刚才分享的内容提问，或交流您的想法与建议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6413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期待与您共同探讨，共同进步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3221</Words>
  <Application>WPS 演示</Application>
  <PresentationFormat/>
  <Paragraphs>283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Courier New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张乘源</cp:lastModifiedBy>
  <cp:revision>3</cp:revision>
  <dcterms:created xsi:type="dcterms:W3CDTF">2026-03-22T05:52:37Z</dcterms:created>
  <dcterms:modified xsi:type="dcterms:W3CDTF">2026-03-22T05:53:52Z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7B1EC46DA4DE46BE8AE50AD4D2504437_12</vt:lpwstr>
  </property>
  <property fmtid="{D5CDD505-2E9C-101B-9397-08002B2CF9AE}" pid="3" name="KSOProductBuildVer">
    <vt:lpwstr>2052-12.1.0.25225</vt:lpwstr>
  </property>
</Properties>
</file>